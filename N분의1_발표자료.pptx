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밤새 혼자 발표자료를 만든 그날 밤을 떠올려 보세요. 나는 다 했는데, 잠수 탄 팀원과 똑같은 점수를 받았습니다. 저희 앱 N분의1은 이 억울함을 풉니다. 학생은 스스로 기여를 증명하고, 교수님은 감이 아니라 근거로 공정하게 평가하게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무임승차가 사라지지 않는 이유는 단 하나, 근거가 없기 때문입니다. 교수님은 최종 결과물만 보시고, 유일한 장치인 학기말 동료평가는 눈치싸움으로 변질됩니다. 저희 앱 설문 기능으로 모은 데이터에서도 87퍼센트가 무임승차를 경험했다고 답했습니다. (※ 실제 발표 시 팀이 직접 조사한 응답 수·비율로 교체하세요.) 열심히 한 사람이 손해 보는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프레임을 뒤집었습니다. 감시 도구가 아닌 증명 도구입니다. 학생은 학기 중 한 일을 잔디처럼 기록하고, 팀원끼리는 익명으로 서로를 평가합니다. AI는 이 본인 기록과 동료평가, 두 근거를 교차검증해 말이 아닌 데이터로 된 평가 자료를 만듭니다. 열심히 한 만큼 인정받는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기능은 교차검증 플래그입니다. 본인 기록과 동료평가, 두 근거가 어긋나면 앱이 자동으로 잡아냅니다. 참여가 저조하면 빨간 카드, 기록은 많은데 평가가 낮으면 노란 카드로 교수님 대시보드에 바로 뜹니다. 다만 AI는 확정하지 않습니다. 근거만 제시하고, 최종 판단은 교수님 몫으로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점수는 딱 일한 만큼 나뉩니다. 학생은 노력한 만큼 인정받고, 교수님은 이의제기가 들어와도 근거로 방어할 수 있습니다. 나아가 일반 팀플을 넘어 졸업작품과 중간기말 프로젝트 관리까지, 한 앱에서 이어집니다. 감시가 아닌 증명. 무임승차의 종말을 N분의1이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21792"/>
            <a:ext cx="868680" cy="868680"/>
          </a:xfrm>
          <a:prstGeom prst="roundRect">
            <a:avLst>
              <a:gd name="adj" fmla="val 23158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2179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1/N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7360" y="64008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성서대학교 소프트웨어 해커톤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737360" y="1042416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A5B4F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FINAL PRESENTATION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49808" y="1920240"/>
            <a:ext cx="7772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일은 한 사람이 다 했는데,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점수는 똑같이 </a:t>
            </a:r>
            <a:pPr algn="l" indent="0" marL="0">
              <a:lnSpc>
                <a:spcPct val="108000"/>
              </a:lnSpc>
              <a:buNone/>
            </a:pPr>
            <a:r>
              <a:rPr lang="en-US" sz="4000" dirty="0">
                <a:solidFill>
                  <a:srgbClr val="FCD34D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N분의 1.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감이 아닌 '근거'로 평가합니다.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N분의1</a:t>
            </a:r>
            <a:pPr indent="0" marL="0">
              <a:buNone/>
            </a:pPr>
            <a:r>
              <a:rPr lang="en-US" sz="1500" dirty="0">
                <a:solidFill>
                  <a:srgbClr val="A5B4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엔분의일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95528" y="562356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56235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무임승차의 종말</a:t>
            </a:r>
            <a:endParaRPr lang="en-US" sz="1500" dirty="0"/>
          </a:p>
        </p:txBody>
      </p:sp>
      <p:pic>
        <p:nvPicPr>
          <p:cNvPr id="11" name="Image 0" descr="C:/Users/HP15~1/AppData/Local/Temp/claude/C--Users-HP-15-Desktop-Hackathon/e11a162a-fd90-4cff-922b-c82073c29db3/scratchpad/deck/assets/dev_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457200"/>
            <a:ext cx="2672906" cy="5715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N분의1  ·  팀 프로젝트 기여도 증명 플랫폼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966960" y="6528816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/  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66160" y="5669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  </a:t>
            </a:r>
            <a:pPr indent="0" marL="0">
              <a:buNone/>
            </a:pPr>
            <a:r>
              <a:rPr lang="en-US" sz="1250" spc="100" kern="0" dirty="0">
                <a:solidFill>
                  <a:srgbClr val="DC26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PROBLEM · 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566160" y="914400"/>
            <a:ext cx="8001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교수님은 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결과물만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봅니다.</a:t>
            </a:r>
            <a:endParaRPr lang="en-US" sz="2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일했는지는 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모릅니다.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566160" y="2212848"/>
            <a:ext cx="800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26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학생 10명 중 9명이 겪은 무임승차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566160" y="2743200"/>
            <a:ext cx="800100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03904" y="2962656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30998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26864" y="287121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결과물만 보입니다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626864" y="3182112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실제로 기여했는지 알 수 없어요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66160" y="3950208"/>
            <a:ext cx="800100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03904" y="4169664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43068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4078224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동료평가는 눈치·감정싸움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626864" y="438912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학기말 설문 하나로는 근거가 못 됩니다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566160" y="5157216"/>
            <a:ext cx="800100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803904" y="5376672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4" y="551383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26864" y="5285232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이의제기에 방어할 근거가 없습니다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626864" y="5596128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이 점수죠?"에 답할 자료가 없어요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66928" y="502920"/>
            <a:ext cx="2715672" cy="5806440"/>
          </a:xfrm>
          <a:prstGeom prst="roundRect">
            <a:avLst>
              <a:gd name="adj" fmla="val 12795"/>
            </a:avLst>
          </a:prstGeom>
          <a:solidFill>
            <a:srgbClr val="0B0B11"/>
          </a:solidFill>
          <a:ln/>
          <a:effectLst>
            <a:outerShdw sx="100000" sy="100000" kx="0" ky="0" algn="bl" rotWithShape="0" blurRad="165100" dist="63500" dir="5400000">
              <a:srgbClr val="000000">
                <a:alpha val="28000"/>
              </a:srgbClr>
            </a:outerShdw>
          </a:effectLst>
        </p:spPr>
      </p:sp>
      <p:pic>
        <p:nvPicPr>
          <p:cNvPr id="21" name="Image 3" descr="C:/Users/HP15~1/AppData/Local/Temp/claude/C--Users-HP-15-Desktop-Hackathon/e11a162a-fd90-4cff-922b-c82073c29db3/scratchpad/deck/assets/dev_surv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02920"/>
            <a:ext cx="2715672" cy="58064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1188720" y="868680"/>
            <a:ext cx="1783080" cy="1152144"/>
          </a:xfrm>
          <a:prstGeom prst="roundRect">
            <a:avLst>
              <a:gd name="adj" fmla="val 10317"/>
            </a:avLst>
          </a:prstGeom>
          <a:solidFill>
            <a:srgbClr val="DC2626"/>
          </a:solidFill>
          <a:ln/>
          <a:effectLst>
            <a:outerShdw sx="100000" sy="100000" kx="0" ky="0" algn="bl" rotWithShape="0" blurRad="165100" dist="63500" dir="5400000">
              <a:srgbClr val="000000">
                <a:alpha val="28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1188720" y="9326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87%</a:t>
            </a:r>
            <a:endParaRPr lang="en-US" sz="3300" dirty="0"/>
          </a:p>
        </p:txBody>
      </p:sp>
      <p:sp>
        <p:nvSpPr>
          <p:cNvPr id="24" name="Text 18"/>
          <p:cNvSpPr/>
          <p:nvPr/>
        </p:nvSpPr>
        <p:spPr>
          <a:xfrm>
            <a:off x="1188720" y="151790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무임승차 경험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N분의1  ·  팀 프로젝트 기여도 증명 플랫폼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966960" y="6528816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/ 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66160" y="5669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  </a:t>
            </a:r>
            <a:pPr indent="0" marL="0">
              <a:buNone/>
            </a:pPr>
            <a:r>
              <a:rPr lang="en-US" sz="1250" spc="100" kern="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SOLUTION · 해결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566160" y="914400"/>
            <a:ext cx="8001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내내 쌓인 기록이,</a:t>
            </a:r>
            <a:endParaRPr lang="en-US" sz="2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학기말 평가의 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4F46E5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근거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됩니다.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566160" y="2212848"/>
            <a:ext cx="800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감시가 아니라, 증명.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566160" y="274320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03904" y="2926080"/>
            <a:ext cx="548640" cy="548640"/>
          </a:xfrm>
          <a:prstGeom prst="ellipse">
            <a:avLst/>
          </a:prstGeom>
          <a:solidFill>
            <a:srgbClr val="EEF0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30632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26864" y="287121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학생 — 매일 한 일을 기록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626864" y="310896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기여가 잔디·연속기록으로 쌓여요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66160" y="384048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03904" y="4023360"/>
            <a:ext cx="548640" cy="548640"/>
          </a:xfrm>
          <a:prstGeom prst="ellipse">
            <a:avLst/>
          </a:prstGeom>
          <a:solidFill>
            <a:srgbClr val="EEF0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416052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96849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 — 익명으로 서로 평가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626864" y="420624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감정싸움 없이 솔직하게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566160" y="493776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803904" y="5120640"/>
            <a:ext cx="548640" cy="548640"/>
          </a:xfrm>
          <a:prstGeom prst="ellipse">
            <a:avLst/>
          </a:prstGeom>
          <a:solidFill>
            <a:srgbClr val="EEF0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4" y="52578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26864" y="506577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 — 두 근거를 교차검증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626864" y="530352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기록 vs 동료평가 대조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3566160" y="6071616"/>
            <a:ext cx="8001000" cy="475488"/>
          </a:xfrm>
          <a:prstGeom prst="roundRect">
            <a:avLst>
              <a:gd name="adj" fmla="val 19231"/>
            </a:avLst>
          </a:prstGeom>
          <a:solidFill>
            <a:srgbClr val="4F46E5"/>
          </a:solidFill>
          <a:ln/>
        </p:spPr>
      </p:sp>
      <p:sp>
        <p:nvSpPr>
          <p:cNvPr id="21" name="Text 16"/>
          <p:cNvSpPr/>
          <p:nvPr/>
        </p:nvSpPr>
        <p:spPr>
          <a:xfrm>
            <a:off x="3566160" y="6071616"/>
            <a:ext cx="8001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공정한 평가의 '근거'가 완성됩니다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566928" y="502920"/>
            <a:ext cx="2715672" cy="5806440"/>
          </a:xfrm>
          <a:prstGeom prst="roundRect">
            <a:avLst>
              <a:gd name="adj" fmla="val 12795"/>
            </a:avLst>
          </a:prstGeom>
          <a:solidFill>
            <a:srgbClr val="0B0B11"/>
          </a:solidFill>
          <a:ln/>
          <a:effectLst>
            <a:outerShdw sx="100000" sy="100000" kx="0" ky="0" algn="bl" rotWithShape="0" blurRad="165100" dist="635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3" descr="C:/Users/HP15~1/AppData/Local/Temp/claude/C--Users-HP-15-Desktop-Hackathon/e11a162a-fd90-4cff-922b-c82073c29db3/scratchpad/deck/assets/dev_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02920"/>
            <a:ext cx="2715672" cy="58064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N분의1  ·  팀 프로젝트 기여도 증명 플랫폼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9966960" y="6528816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/ 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66160" y="5669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  </a:t>
            </a:r>
            <a:pPr indent="0" marL="0">
              <a:buNone/>
            </a:pPr>
            <a:r>
              <a:rPr lang="en-US" sz="1250" spc="100" kern="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KEY FEATURE · 핵심 기능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566160" y="914400"/>
            <a:ext cx="8001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무임승차를 앱이 먼저 찾아,</a:t>
            </a:r>
            <a:endParaRPr lang="en-US" sz="2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빨간 카드</a:t>
            </a:r>
            <a:pPr algn="l" indent="0" marL="0">
              <a:lnSpc>
                <a:spcPct val="105000"/>
              </a:lnSpc>
              <a:buNone/>
            </a:pPr>
            <a:r>
              <a:rPr lang="en-US" sz="2900" dirty="0">
                <a:solidFill>
                  <a:srgbClr val="1E293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알립니다.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566160" y="2212848"/>
            <a:ext cx="800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F46E5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교차검증 플래그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566160" y="274320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03904" y="2926080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30632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26864" y="287121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참여 저조 → 무임승차 의심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626864" y="310896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기록·평가가 모두 낮은 팀원 자동 감지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566160" y="384048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03904" y="402336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416052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96849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기록·평가 불일치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626864" y="420624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기록은 많은데 평가가 낮은 경우 등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566160" y="4937760"/>
            <a:ext cx="80010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803904" y="5120640"/>
            <a:ext cx="548640" cy="548640"/>
          </a:xfrm>
          <a:prstGeom prst="ellipse">
            <a:avLst/>
          </a:prstGeom>
          <a:solidFill>
            <a:srgbClr val="EEF0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4" y="52578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26864" y="5065776"/>
            <a:ext cx="6665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 기여도 리포트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4626864" y="5303520"/>
            <a:ext cx="6665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팀별 근거 문서를 자동 생성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3566160" y="6071616"/>
            <a:ext cx="8001000" cy="475488"/>
          </a:xfrm>
          <a:prstGeom prst="roundRect">
            <a:avLst>
              <a:gd name="adj" fmla="val 19231"/>
            </a:avLst>
          </a:prstGeom>
          <a:solidFill>
            <a:srgbClr val="EEF2F7"/>
          </a:solidFill>
          <a:ln/>
        </p:spPr>
      </p:sp>
      <p:sp>
        <p:nvSpPr>
          <p:cNvPr id="21" name="Text 16"/>
          <p:cNvSpPr/>
          <p:nvPr/>
        </p:nvSpPr>
        <p:spPr>
          <a:xfrm>
            <a:off x="3703320" y="6071616"/>
            <a:ext cx="7726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AI는 '판단'하지 않습니다.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근거만 제시하고, 최종 결정은 교수님 몫입니다.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66928" y="502920"/>
            <a:ext cx="2715672" cy="5806440"/>
          </a:xfrm>
          <a:prstGeom prst="roundRect">
            <a:avLst>
              <a:gd name="adj" fmla="val 12795"/>
            </a:avLst>
          </a:prstGeom>
          <a:solidFill>
            <a:srgbClr val="0B0B11"/>
          </a:solidFill>
          <a:ln/>
          <a:effectLst>
            <a:outerShdw sx="100000" sy="100000" kx="0" ky="0" algn="bl" rotWithShape="0" blurRad="165100" dist="635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3" descr="C:/Users/HP15~1/AppData/Local/Temp/claude/C--Users-HP-15-Desktop-Hackathon/e11a162a-fd90-4cff-922b-c82073c29db3/scratchpad/deck/assets/dev_pro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02920"/>
            <a:ext cx="2715672" cy="58064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N분의1  ·  팀 프로젝트 기여도 증명 플랫폼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9966960" y="6528816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/  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6616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  </a:t>
            </a:r>
            <a:pPr indent="0" marL="0">
              <a:buNone/>
            </a:pPr>
            <a:r>
              <a:rPr lang="en-US" sz="1250" spc="100" kern="0" dirty="0">
                <a:solidFill>
                  <a:srgbClr val="C7D2F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IMPACT · 기대 효과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566160" y="969264"/>
            <a:ext cx="8001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점수는 N분의 1,</a:t>
            </a:r>
            <a:endParaRPr lang="en-US" sz="33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이제 </a:t>
            </a:r>
            <a:pPr algn="l" indent="0" marL="0">
              <a:lnSpc>
                <a:spcPct val="106000"/>
              </a:lnSpc>
              <a:buNone/>
            </a:pPr>
            <a:r>
              <a:rPr lang="en-US" sz="3300" dirty="0">
                <a:solidFill>
                  <a:srgbClr val="FCD34D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일한 만큼.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566160" y="2331720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7D2F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일반 팀플에서 졸업작품까지 — 공정한 팀플의 시작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3566160" y="2880360"/>
            <a:ext cx="8001000" cy="877824"/>
          </a:xfrm>
          <a:prstGeom prst="roundRect">
            <a:avLst>
              <a:gd name="adj" fmla="val 10417"/>
            </a:avLst>
          </a:prstGeom>
          <a:solidFill>
            <a:srgbClr val="413C9A"/>
          </a:solidFill>
          <a:ln/>
        </p:spPr>
      </p:sp>
      <p:sp>
        <p:nvSpPr>
          <p:cNvPr id="6" name="Shape 4"/>
          <p:cNvSpPr/>
          <p:nvPr/>
        </p:nvSpPr>
        <p:spPr>
          <a:xfrm>
            <a:off x="3822192" y="3063240"/>
            <a:ext cx="512064" cy="512064"/>
          </a:xfrm>
          <a:prstGeom prst="ellipse">
            <a:avLst/>
          </a:prstGeom>
          <a:solidFill>
            <a:srgbClr val="5B54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208" y="319125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53712" y="2880360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7D2F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학생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852160" y="2880360"/>
            <a:ext cx="5486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노력한 만큼 인정받습니다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566160" y="3941064"/>
            <a:ext cx="8001000" cy="877824"/>
          </a:xfrm>
          <a:prstGeom prst="roundRect">
            <a:avLst>
              <a:gd name="adj" fmla="val 10417"/>
            </a:avLst>
          </a:prstGeom>
          <a:solidFill>
            <a:srgbClr val="413C9A"/>
          </a:solidFill>
          <a:ln/>
        </p:spPr>
      </p:sp>
      <p:sp>
        <p:nvSpPr>
          <p:cNvPr id="11" name="Shape 8"/>
          <p:cNvSpPr/>
          <p:nvPr/>
        </p:nvSpPr>
        <p:spPr>
          <a:xfrm>
            <a:off x="3822192" y="4123944"/>
            <a:ext cx="512064" cy="512064"/>
          </a:xfrm>
          <a:prstGeom prst="ellipse">
            <a:avLst/>
          </a:prstGeom>
          <a:solidFill>
            <a:srgbClr val="5B54C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425196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3941064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7D2F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교수님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852160" y="3941064"/>
            <a:ext cx="5486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이의제기에도 근거로 방어합니다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66160" y="5001768"/>
            <a:ext cx="8001000" cy="877824"/>
          </a:xfrm>
          <a:prstGeom prst="roundRect">
            <a:avLst>
              <a:gd name="adj" fmla="val 10417"/>
            </a:avLst>
          </a:prstGeom>
          <a:solidFill>
            <a:srgbClr val="413C9A"/>
          </a:solidFill>
          <a:ln/>
        </p:spPr>
      </p:sp>
      <p:sp>
        <p:nvSpPr>
          <p:cNvPr id="16" name="Shape 12"/>
          <p:cNvSpPr/>
          <p:nvPr/>
        </p:nvSpPr>
        <p:spPr>
          <a:xfrm>
            <a:off x="3822192" y="5184648"/>
            <a:ext cx="512064" cy="512064"/>
          </a:xfrm>
          <a:prstGeom prst="ellipse">
            <a:avLst/>
          </a:prstGeom>
          <a:solidFill>
            <a:srgbClr val="5B54C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531266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53712" y="50017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7D2F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5852160" y="5001768"/>
            <a:ext cx="5486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캡스톤 · 중간 · 기말 관리까지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3566160" y="6108192"/>
            <a:ext cx="800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감시가 아닌 증명 — 무임승차의 종말.</a:t>
            </a:r>
            <a:endParaRPr lang="en-US" sz="1800" dirty="0"/>
          </a:p>
        </p:txBody>
      </p:sp>
      <p:pic>
        <p:nvPicPr>
          <p:cNvPr id="21" name="Image 3" descr="C:/Users/HP15~1/AppData/Local/Temp/claude/C--Users-HP-15-Desktop-Hackathon/e11a162a-fd90-4cff-922b-c82073c29db3/scratchpad/deck/assets/dev_pro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502920"/>
            <a:ext cx="2715672" cy="58064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N분의1  ·  팀 프로젝트 기여도 증명 플랫폼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9966960" y="6528816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/  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N분의1 — 팀 프로젝트 기여도 증명 플랫폼</dc:title>
  <dc:subject>PptxGenJS Presentation</dc:subject>
  <dc:creator>N분의1</dc:creator>
  <cp:lastModifiedBy>N분의1</cp:lastModifiedBy>
  <cp:revision>1</cp:revision>
  <dcterms:created xsi:type="dcterms:W3CDTF">2026-07-05T09:53:46Z</dcterms:created>
  <dcterms:modified xsi:type="dcterms:W3CDTF">2026-07-05T09:53:46Z</dcterms:modified>
</cp:coreProperties>
</file>