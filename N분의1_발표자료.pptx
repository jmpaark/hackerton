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N분의1입니다. 저희가 만든 N분의1은 팀 프로젝트의 기여도를 증명하고 관리하는 안드로이드 앱입니다. 학생은 학기 내내 자신의 기여를 증명하고, 교수님은 그 데이터를 근거로 공정하게 평가하실 수 있습니다. 핵심은 감시가 아니라 학생 스스로의 증명입니다.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프로젝트 평가가 늘 불공정한 이유는 세 가지입니다. 첫째, 교수님은 최종 결과물만 보시게 되어 과정의 실제 기여를 확인하기 어렵습니다. 둘째, 유일한 장치인 학기말 동료평가는 주관적이고 근거로 남지 않습니다. 셋째, 결국 참여도와 무관하게 같은 학점이 부여됩니다. 왼쪽은 저희 앱의 설문 기능으로, 이런 현장의 목소리도 데이터로 모을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작동 방식은 네 단계입니다. 1단계, 학생이 활동과 소요시간을 기록하면 잔디로 시각화됩니다. 2단계, 팀원끼리 기여도·책임감·협업·소통 네 항목을 익명으로 평가합니다. 3단계, AI가 본인 기록과 동료평가를 교차검증해 분석합니다. 4단계, 정리된 근거와 플래그가 교수님 대시보드에 표시됩니다. 말이 아닌 데이터로 기여가 증명되는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기능은 교차검증 플래그입니다. 기록과 평가가 어긋나면 무임승차나 불일치를 앱이 먼저 자동으로 잡아냅니다. 왼쪽 화면이 실제 분석 화면인데, 도윤 학생은 기록은 많은데 평가가 낮아 불일치로, 서연 학생은 반대로 기록 누락 가능성으로 표시됩니다. 이 외에 기여도 대시보드, AI 리포트, 잔디 기반 활동 기록과 미니 LMS까지 제공합니다. Kotlin과 Compose, Claude AI로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N분의1은 일반 팀플부터 중간·기말 프로젝트, 졸업작품까지 모든 팀 프로젝트에 적용됩니다. 학생은 노력한 만큼 인정받고, 교수님은 이의제기가 들어와도 근거로 방어할 수 있습니다. 감시가 아닌 증명, 팀 N분의1이었습니다.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31520" y="658368"/>
            <a:ext cx="841248" cy="841248"/>
          </a:xfrm>
          <a:prstGeom prst="roundRect">
            <a:avLst>
              <a:gd name="adj" fmla="val 23913"/>
            </a:avLst>
          </a:prstGeom>
          <a:solidFill>
            <a:srgbClr val="6366F1"/>
          </a:solidFill>
          <a:ln/>
        </p:spPr>
      </p:sp>
      <p:sp>
        <p:nvSpPr>
          <p:cNvPr id="3" name="Text 1"/>
          <p:cNvSpPr/>
          <p:nvPr/>
        </p:nvSpPr>
        <p:spPr>
          <a:xfrm>
            <a:off x="731520" y="658368"/>
            <a:ext cx="841248" cy="841248"/>
          </a:xfrm>
          <a:prstGeom prst="rect">
            <a:avLst/>
          </a:prstGeom>
          <a:noFill/>
          <a:ln/>
        </p:spPr>
        <p:txBody>
          <a:bodyPr wrap="square" lIns="0" tIns="0" rIns="0" bIns="0" rtlCol="0" anchor="ctr"/>
          <a:lstStyle/>
          <a:p>
            <a:pPr algn="ctr" indent="0" marL="0">
              <a:buNone/>
            </a:pPr>
            <a:r>
              <a:rPr lang="en-US" sz="2100" b="1" dirty="0">
                <a:solidFill>
                  <a:srgbClr val="FFFFFF"/>
                </a:solidFill>
                <a:latin typeface="Pretendard" pitchFamily="34" charset="0"/>
                <a:ea typeface="Pretendard" pitchFamily="34" charset="-122"/>
                <a:cs typeface="Pretendard" pitchFamily="34" charset="-120"/>
              </a:rPr>
              <a:t>1/N</a:t>
            </a:r>
            <a:endParaRPr lang="en-US" sz="2100" dirty="0"/>
          </a:p>
        </p:txBody>
      </p:sp>
      <p:sp>
        <p:nvSpPr>
          <p:cNvPr id="4" name="Text 2"/>
          <p:cNvSpPr/>
          <p:nvPr/>
        </p:nvSpPr>
        <p:spPr>
          <a:xfrm>
            <a:off x="1783080" y="786384"/>
            <a:ext cx="6400800" cy="566928"/>
          </a:xfrm>
          <a:prstGeom prst="rect">
            <a:avLst/>
          </a:prstGeom>
          <a:noFill/>
          <a:ln/>
        </p:spPr>
        <p:txBody>
          <a:bodyPr wrap="square" lIns="0" tIns="0" rIns="0" bIns="0" rtlCol="0" anchor="ctr"/>
          <a:lstStyle/>
          <a:p>
            <a:pPr indent="0" marL="0">
              <a:buNone/>
            </a:pPr>
            <a:r>
              <a:rPr lang="en-US" sz="1300" b="1" spc="50" kern="0" dirty="0">
                <a:solidFill>
                  <a:srgbClr val="C7D2FE"/>
                </a:solidFill>
                <a:latin typeface="Pretendard" pitchFamily="34" charset="0"/>
                <a:ea typeface="Pretendard" pitchFamily="34" charset="-122"/>
                <a:cs typeface="Pretendard" pitchFamily="34" charset="-120"/>
              </a:rPr>
              <a:t>성서대학교 소프트웨어학과  ·  2026 SW 해커톤</a:t>
            </a:r>
            <a:endParaRPr lang="en-US" sz="1300" dirty="0"/>
          </a:p>
        </p:txBody>
      </p:sp>
      <p:sp>
        <p:nvSpPr>
          <p:cNvPr id="5" name="Text 3"/>
          <p:cNvSpPr/>
          <p:nvPr/>
        </p:nvSpPr>
        <p:spPr>
          <a:xfrm>
            <a:off x="749808" y="1828800"/>
            <a:ext cx="7680960" cy="1143000"/>
          </a:xfrm>
          <a:prstGeom prst="rect">
            <a:avLst/>
          </a:prstGeom>
          <a:noFill/>
          <a:ln/>
        </p:spPr>
        <p:txBody>
          <a:bodyPr wrap="square" lIns="0" tIns="0" rIns="0" bIns="0" rtlCol="0" anchor="t"/>
          <a:lstStyle/>
          <a:p>
            <a:pPr indent="0" marL="0">
              <a:buNone/>
            </a:pPr>
            <a:r>
              <a:rPr lang="en-US" sz="6000" b="1" spc="-50" kern="0" dirty="0">
                <a:solidFill>
                  <a:srgbClr val="FFFFFF"/>
                </a:solidFill>
                <a:latin typeface="Pretendard" pitchFamily="34" charset="0"/>
                <a:ea typeface="Pretendard" pitchFamily="34" charset="-122"/>
                <a:cs typeface="Pretendard" pitchFamily="34" charset="-120"/>
              </a:rPr>
              <a:t>N분의1</a:t>
            </a:r>
            <a:endParaRPr lang="en-US" sz="6000" dirty="0"/>
          </a:p>
        </p:txBody>
      </p:sp>
      <p:sp>
        <p:nvSpPr>
          <p:cNvPr id="6" name="Text 4"/>
          <p:cNvSpPr/>
          <p:nvPr/>
        </p:nvSpPr>
        <p:spPr>
          <a:xfrm>
            <a:off x="777240" y="3035808"/>
            <a:ext cx="7680960" cy="548640"/>
          </a:xfrm>
          <a:prstGeom prst="rect">
            <a:avLst/>
          </a:prstGeom>
          <a:noFill/>
          <a:ln/>
        </p:spPr>
        <p:txBody>
          <a:bodyPr wrap="square" lIns="0" tIns="0" rIns="0" bIns="0" rtlCol="0" anchor="t"/>
          <a:lstStyle/>
          <a:p>
            <a:pPr indent="0" marL="0">
              <a:buNone/>
            </a:pPr>
            <a:r>
              <a:rPr lang="en-US" sz="2100" b="1" dirty="0">
                <a:solidFill>
                  <a:srgbClr val="FCD34D"/>
                </a:solidFill>
                <a:latin typeface="Pretendard" pitchFamily="34" charset="0"/>
                <a:ea typeface="Pretendard" pitchFamily="34" charset="-122"/>
                <a:cs typeface="Pretendard" pitchFamily="34" charset="-120"/>
              </a:rPr>
              <a:t>팀 프로젝트 기여도 증명·관리 플랫폼</a:t>
            </a:r>
            <a:endParaRPr lang="en-US" sz="2100" dirty="0"/>
          </a:p>
        </p:txBody>
      </p:sp>
      <p:sp>
        <p:nvSpPr>
          <p:cNvPr id="7" name="Text 5"/>
          <p:cNvSpPr/>
          <p:nvPr/>
        </p:nvSpPr>
        <p:spPr>
          <a:xfrm>
            <a:off x="777240" y="3767328"/>
            <a:ext cx="7589520" cy="822960"/>
          </a:xfrm>
          <a:prstGeom prst="rect">
            <a:avLst/>
          </a:prstGeom>
          <a:noFill/>
          <a:ln/>
        </p:spPr>
        <p:txBody>
          <a:bodyPr wrap="square" lIns="0" tIns="0" rIns="0" bIns="0" rtlCol="0" anchor="t"/>
          <a:lstStyle/>
          <a:p>
            <a:pPr indent="0" marL="0">
              <a:lnSpc>
                <a:spcPct val="130000"/>
              </a:lnSpc>
              <a:buNone/>
            </a:pPr>
            <a:r>
              <a:rPr lang="en-US" sz="1500" dirty="0">
                <a:solidFill>
                  <a:srgbClr val="C7D2FE"/>
                </a:solidFill>
                <a:latin typeface="Pretendard" pitchFamily="34" charset="0"/>
                <a:ea typeface="Pretendard" pitchFamily="34" charset="-122"/>
                <a:cs typeface="Pretendard" pitchFamily="34" charset="-120"/>
              </a:rPr>
              <a:t>학생은 학기 내내 기여를 '증명'하고, 교수님은 그 데이터를 '근거'로 공정하게 평가합니다.</a:t>
            </a:r>
            <a:endParaRPr lang="en-US" sz="1500" dirty="0"/>
          </a:p>
        </p:txBody>
      </p:sp>
      <p:sp>
        <p:nvSpPr>
          <p:cNvPr id="8" name="Shape 6"/>
          <p:cNvSpPr/>
          <p:nvPr/>
        </p:nvSpPr>
        <p:spPr>
          <a:xfrm>
            <a:off x="795528" y="4892040"/>
            <a:ext cx="2286000" cy="530352"/>
          </a:xfrm>
          <a:prstGeom prst="roundRect">
            <a:avLst>
              <a:gd name="adj" fmla="val 50000"/>
            </a:avLst>
          </a:prstGeom>
          <a:solidFill>
            <a:srgbClr val="6366F1"/>
          </a:solidFill>
          <a:ln/>
        </p:spPr>
      </p:sp>
      <p:sp>
        <p:nvSpPr>
          <p:cNvPr id="9" name="Text 7"/>
          <p:cNvSpPr/>
          <p:nvPr/>
        </p:nvSpPr>
        <p:spPr>
          <a:xfrm>
            <a:off x="795528" y="4892040"/>
            <a:ext cx="2286000" cy="530352"/>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감시가 아닌, 증명</a:t>
            </a:r>
            <a:endParaRPr lang="en-US" sz="1400" dirty="0"/>
          </a:p>
        </p:txBody>
      </p:sp>
      <p:sp>
        <p:nvSpPr>
          <p:cNvPr id="10" name="Text 8"/>
          <p:cNvSpPr/>
          <p:nvPr/>
        </p:nvSpPr>
        <p:spPr>
          <a:xfrm>
            <a:off x="777240" y="5806440"/>
            <a:ext cx="8229600" cy="365760"/>
          </a:xfrm>
          <a:prstGeom prst="rect">
            <a:avLst/>
          </a:prstGeom>
          <a:noFill/>
          <a:ln/>
        </p:spPr>
        <p:txBody>
          <a:bodyPr wrap="square" lIns="0" tIns="0" rIns="0" bIns="0" rtlCol="0" anchor="ctr"/>
          <a:lstStyle/>
          <a:p>
            <a:pPr indent="0" marL="0">
              <a:buNone/>
            </a:pPr>
            <a:r>
              <a:rPr lang="en-US" sz="1250" b="1" spc="100" kern="0" dirty="0">
                <a:solidFill>
                  <a:srgbClr val="A5B4FC"/>
                </a:solidFill>
                <a:latin typeface="Pretendard" pitchFamily="34" charset="0"/>
                <a:ea typeface="Pretendard" pitchFamily="34" charset="-122"/>
                <a:cs typeface="Pretendard" pitchFamily="34" charset="-120"/>
              </a:rPr>
              <a:t>TEAM  N분의1     </a:t>
            </a:r>
            <a:pPr indent="0" marL="0">
              <a:buNone/>
            </a:pPr>
            <a:r>
              <a:rPr lang="en-US" sz="1250" b="1" dirty="0">
                <a:solidFill>
                  <a:srgbClr val="FFFFFF"/>
                </a:solidFill>
                <a:latin typeface="Pretendard" pitchFamily="34" charset="0"/>
                <a:ea typeface="Pretendard" pitchFamily="34" charset="-122"/>
                <a:cs typeface="Pretendard" pitchFamily="34" charset="-120"/>
              </a:rPr>
              <a:t>소이 </a:t>
            </a:r>
            <a:pPr indent="0" marL="0">
              <a:buNone/>
            </a:pPr>
            <a:r>
              <a:rPr lang="en-US" sz="1250" dirty="0">
                <a:solidFill>
                  <a:srgbClr val="C7D2FE"/>
                </a:solidFill>
                <a:latin typeface="Pretendard" pitchFamily="34" charset="0"/>
                <a:ea typeface="Pretendard" pitchFamily="34" charset="-122"/>
                <a:cs typeface="Pretendard" pitchFamily="34" charset="-120"/>
              </a:rPr>
              <a:t>팀장·기획      </a:t>
            </a:r>
            <a:pPr indent="0" marL="0">
              <a:buNone/>
            </a:pPr>
            <a:r>
              <a:rPr lang="en-US" sz="1250" b="1" dirty="0">
                <a:solidFill>
                  <a:srgbClr val="FFFFFF"/>
                </a:solidFill>
                <a:latin typeface="Pretendard" pitchFamily="34" charset="0"/>
                <a:ea typeface="Pretendard" pitchFamily="34" charset="-122"/>
                <a:cs typeface="Pretendard" pitchFamily="34" charset="-120"/>
              </a:rPr>
              <a:t>지민 </a:t>
            </a:r>
            <a:pPr indent="0" marL="0">
              <a:buNone/>
            </a:pPr>
            <a:r>
              <a:rPr lang="en-US" sz="1250" dirty="0">
                <a:solidFill>
                  <a:srgbClr val="C7D2FE"/>
                </a:solidFill>
                <a:latin typeface="Pretendard" pitchFamily="34" charset="0"/>
                <a:ea typeface="Pretendard" pitchFamily="34" charset="-122"/>
                <a:cs typeface="Pretendard" pitchFamily="34" charset="-120"/>
              </a:rPr>
              <a:t>개발      </a:t>
            </a:r>
            <a:pPr indent="0" marL="0">
              <a:buNone/>
            </a:pPr>
            <a:r>
              <a:rPr lang="en-US" sz="1250" b="1" dirty="0">
                <a:solidFill>
                  <a:srgbClr val="FFFFFF"/>
                </a:solidFill>
                <a:latin typeface="Pretendard" pitchFamily="34" charset="0"/>
                <a:ea typeface="Pretendard" pitchFamily="34" charset="-122"/>
                <a:cs typeface="Pretendard" pitchFamily="34" charset="-120"/>
              </a:rPr>
              <a:t>시훈 </a:t>
            </a:r>
            <a:pPr indent="0" marL="0">
              <a:buNone/>
            </a:pPr>
            <a:r>
              <a:rPr lang="en-US" sz="1250" dirty="0">
                <a:solidFill>
                  <a:srgbClr val="C7D2FE"/>
                </a:solidFill>
                <a:latin typeface="Pretendard" pitchFamily="34" charset="0"/>
                <a:ea typeface="Pretendard" pitchFamily="34" charset="-122"/>
                <a:cs typeface="Pretendard" pitchFamily="34" charset="-120"/>
              </a:rPr>
              <a:t>시연</a:t>
            </a:r>
            <a:endParaRPr lang="en-US" sz="1250" dirty="0"/>
          </a:p>
        </p:txBody>
      </p:sp>
      <p:pic>
        <p:nvPicPr>
          <p:cNvPr id="11" name="Image 0" descr="C:/Users/HP15~1/AppData/Local/Temp/claude/C--Users-HP-15-Desktop-Hackathon/e11a162a-fd90-4cff-922b-c82073c29db3/scratchpad/deck/assets/dev_home.png">    </p:cNvPr>
          <p:cNvPicPr>
            <a:picLocks noChangeAspect="1"/>
          </p:cNvPicPr>
          <p:nvPr/>
        </p:nvPicPr>
        <p:blipFill>
          <a:blip r:embed="rId2"/>
          <a:stretch>
            <a:fillRect/>
          </a:stretch>
        </p:blipFill>
        <p:spPr>
          <a:xfrm>
            <a:off x="8915400" y="566928"/>
            <a:ext cx="2608756" cy="5577840"/>
          </a:xfrm>
          <a:prstGeom prst="rect">
            <a:avLst/>
          </a:prstGeom>
        </p:spPr>
      </p:pic>
      <p:sp>
        <p:nvSpPr>
          <p:cNvPr id="12" name="Text 9"/>
          <p:cNvSpPr/>
          <p:nvPr/>
        </p:nvSpPr>
        <p:spPr>
          <a:xfrm>
            <a:off x="548640" y="6528816"/>
            <a:ext cx="7315200" cy="256032"/>
          </a:xfrm>
          <a:prstGeom prst="rect">
            <a:avLst/>
          </a:prstGeom>
          <a:noFill/>
          <a:ln/>
        </p:spPr>
        <p:txBody>
          <a:bodyPr wrap="square" lIns="0" tIns="0" rIns="0" bIns="0" rtlCol="0" anchor="ctr"/>
          <a:lstStyle/>
          <a:p>
            <a:pPr indent="0" marL="0">
              <a:buNone/>
            </a:pPr>
            <a:r>
              <a:rPr lang="en-US" sz="900" dirty="0">
                <a:solidFill>
                  <a:srgbClr val="A5B4FC"/>
                </a:solidFill>
                <a:latin typeface="Pretendard" pitchFamily="34" charset="0"/>
                <a:ea typeface="Pretendard" pitchFamily="34" charset="-122"/>
                <a:cs typeface="Pretendard" pitchFamily="34" charset="-120"/>
              </a:rPr>
              <a:t>N분의1  ·  팀 프로젝트 기여도 증명·관리 플랫폼</a:t>
            </a:r>
            <a:endParaRPr lang="en-US" sz="900" dirty="0"/>
          </a:p>
        </p:txBody>
      </p:sp>
      <p:sp>
        <p:nvSpPr>
          <p:cNvPr id="13" name="Text 10"/>
          <p:cNvSpPr/>
          <p:nvPr/>
        </p:nvSpPr>
        <p:spPr>
          <a:xfrm>
            <a:off x="9966960" y="6528816"/>
            <a:ext cx="1673352" cy="256032"/>
          </a:xfrm>
          <a:prstGeom prst="rect">
            <a:avLst/>
          </a:prstGeom>
          <a:noFill/>
          <a:ln/>
        </p:spPr>
        <p:txBody>
          <a:bodyPr wrap="square" lIns="0" tIns="0" rIns="0" bIns="0" rtlCol="0" anchor="ctr"/>
          <a:lstStyle/>
          <a:p>
            <a:pPr algn="r" indent="0" marL="0">
              <a:buNone/>
            </a:pPr>
            <a:r>
              <a:rPr lang="en-US" sz="900" dirty="0">
                <a:solidFill>
                  <a:srgbClr val="A5B4FC"/>
                </a:solidFill>
                <a:latin typeface="Pretendard" pitchFamily="34" charset="0"/>
                <a:ea typeface="Pretendard" pitchFamily="34" charset="-122"/>
                <a:cs typeface="Pretendard" pitchFamily="34" charset="-120"/>
              </a:rPr>
              <a:t>01  /  05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3566160" y="566928"/>
            <a:ext cx="9144000" cy="310896"/>
          </a:xfrm>
          <a:prstGeom prst="rect">
            <a:avLst/>
          </a:prstGeom>
          <a:noFill/>
          <a:ln/>
        </p:spPr>
        <p:txBody>
          <a:bodyPr wrap="square" lIns="0" tIns="0" rIns="0" bIns="0" rtlCol="0" anchor="ctr"/>
          <a:lstStyle/>
          <a:p>
            <a:pPr indent="0" marL="0">
              <a:buNone/>
            </a:pPr>
            <a:r>
              <a:rPr lang="en-US" sz="1100" b="1" dirty="0">
                <a:solidFill>
                  <a:srgbClr val="DC2626"/>
                </a:solidFill>
                <a:latin typeface="Pretendard" pitchFamily="34" charset="0"/>
                <a:ea typeface="Pretendard" pitchFamily="34" charset="-122"/>
                <a:cs typeface="Pretendard" pitchFamily="34" charset="-120"/>
              </a:rPr>
              <a:t>●  </a:t>
            </a:r>
            <a:pPr indent="0" marL="0">
              <a:buNone/>
            </a:pPr>
            <a:r>
              <a:rPr lang="en-US" sz="1250" b="1" spc="100" kern="0" dirty="0">
                <a:solidFill>
                  <a:srgbClr val="DC2626"/>
                </a:solidFill>
                <a:latin typeface="Pretendard" pitchFamily="34" charset="0"/>
                <a:ea typeface="Pretendard" pitchFamily="34" charset="-122"/>
                <a:cs typeface="Pretendard" pitchFamily="34" charset="-120"/>
              </a:rPr>
              <a:t>BACKGROUND · 개발 배경</a:t>
            </a:r>
            <a:endParaRPr lang="en-US" sz="1100" dirty="0"/>
          </a:p>
        </p:txBody>
      </p:sp>
      <p:sp>
        <p:nvSpPr>
          <p:cNvPr id="3" name="Text 1"/>
          <p:cNvSpPr/>
          <p:nvPr/>
        </p:nvSpPr>
        <p:spPr>
          <a:xfrm>
            <a:off x="3566160" y="914400"/>
            <a:ext cx="8001000" cy="1371600"/>
          </a:xfrm>
          <a:prstGeom prst="rect">
            <a:avLst/>
          </a:prstGeom>
          <a:noFill/>
          <a:ln/>
        </p:spPr>
        <p:txBody>
          <a:bodyPr wrap="square" lIns="0" tIns="0" rIns="0" bIns="0" rtlCol="0" anchor="t"/>
          <a:lstStyle/>
          <a:p>
            <a:pPr algn="l" indent="0" marL="0">
              <a:lnSpc>
                <a:spcPct val="103000"/>
              </a:lnSpc>
              <a:buNone/>
            </a:pPr>
            <a:r>
              <a:rPr lang="en-US" sz="3300" b="1" spc="-30" kern="0" dirty="0">
                <a:solidFill>
                  <a:srgbClr val="1E293B"/>
                </a:solidFill>
                <a:latin typeface="Pretendard" pitchFamily="34" charset="0"/>
                <a:ea typeface="Pretendard" pitchFamily="34" charset="-122"/>
                <a:cs typeface="Pretendard" pitchFamily="34" charset="-120"/>
              </a:rPr>
              <a:t>기여는 보이지 않고,</a:t>
            </a:r>
            <a:endParaRPr lang="en-US" sz="3300" dirty="0"/>
          </a:p>
          <a:p>
            <a:pPr algn="l" indent="0" marL="0">
              <a:lnSpc>
                <a:spcPct val="103000"/>
              </a:lnSpc>
              <a:buNone/>
            </a:pPr>
            <a:r>
              <a:rPr lang="en-US" sz="3300" b="1" spc="-30" kern="0" dirty="0">
                <a:solidFill>
                  <a:srgbClr val="1E293B"/>
                </a:solidFill>
                <a:latin typeface="Pretendard" pitchFamily="34" charset="0"/>
                <a:ea typeface="Pretendard" pitchFamily="34" charset="-122"/>
                <a:cs typeface="Pretendard" pitchFamily="34" charset="-120"/>
              </a:rPr>
              <a:t>성적은 </a:t>
            </a:r>
            <a:pPr algn="l" indent="0" marL="0">
              <a:lnSpc>
                <a:spcPct val="103000"/>
              </a:lnSpc>
              <a:buNone/>
            </a:pPr>
            <a:r>
              <a:rPr lang="en-US" sz="3300" b="1" spc="-30" kern="0" dirty="0">
                <a:solidFill>
                  <a:srgbClr val="DC2626"/>
                </a:solidFill>
                <a:latin typeface="Pretendard" pitchFamily="34" charset="0"/>
                <a:ea typeface="Pretendard" pitchFamily="34" charset="-122"/>
                <a:cs typeface="Pretendard" pitchFamily="34" charset="-120"/>
              </a:rPr>
              <a:t>똑같이</a:t>
            </a:r>
            <a:pPr algn="l" indent="0" marL="0">
              <a:lnSpc>
                <a:spcPct val="103000"/>
              </a:lnSpc>
              <a:buNone/>
            </a:pPr>
            <a:r>
              <a:rPr lang="en-US" sz="3300" b="1" spc="-30" kern="0" dirty="0">
                <a:solidFill>
                  <a:srgbClr val="1E293B"/>
                </a:solidFill>
                <a:latin typeface="Pretendard" pitchFamily="34" charset="0"/>
                <a:ea typeface="Pretendard" pitchFamily="34" charset="-122"/>
                <a:cs typeface="Pretendard" pitchFamily="34" charset="-120"/>
              </a:rPr>
              <a:t> 나뉩니다</a:t>
            </a:r>
            <a:endParaRPr lang="en-US" sz="3300" dirty="0"/>
          </a:p>
        </p:txBody>
      </p:sp>
      <p:sp>
        <p:nvSpPr>
          <p:cNvPr id="4" name="Text 2"/>
          <p:cNvSpPr/>
          <p:nvPr/>
        </p:nvSpPr>
        <p:spPr>
          <a:xfrm>
            <a:off x="3566160" y="2212848"/>
            <a:ext cx="8001000" cy="457200"/>
          </a:xfrm>
          <a:prstGeom prst="rect">
            <a:avLst/>
          </a:prstGeom>
          <a:noFill/>
          <a:ln/>
        </p:spPr>
        <p:txBody>
          <a:bodyPr wrap="square" lIns="0" tIns="0" rIns="0" bIns="0" rtlCol="0" anchor="ctr"/>
          <a:lstStyle/>
          <a:p>
            <a:pPr indent="0" marL="0">
              <a:buNone/>
            </a:pPr>
            <a:r>
              <a:rPr lang="en-US" sz="1550" b="1" dirty="0">
                <a:solidFill>
                  <a:srgbClr val="DC2626"/>
                </a:solidFill>
                <a:latin typeface="Pretendard" pitchFamily="34" charset="0"/>
                <a:ea typeface="Pretendard" pitchFamily="34" charset="-122"/>
                <a:cs typeface="Pretendard" pitchFamily="34" charset="-120"/>
              </a:rPr>
              <a:t>팀 프로젝트 평가가 늘 불공정한 3가지 이유</a:t>
            </a:r>
            <a:endParaRPr lang="en-US" sz="1550" dirty="0"/>
          </a:p>
        </p:txBody>
      </p:sp>
      <p:sp>
        <p:nvSpPr>
          <p:cNvPr id="5" name="Shape 3"/>
          <p:cNvSpPr/>
          <p:nvPr/>
        </p:nvSpPr>
        <p:spPr>
          <a:xfrm>
            <a:off x="3566160" y="2743200"/>
            <a:ext cx="8001000" cy="987552"/>
          </a:xfrm>
          <a:prstGeom prst="roundRect">
            <a:avLst>
              <a:gd name="adj" fmla="val 9259"/>
            </a:avLst>
          </a:prstGeom>
          <a:solidFill>
            <a:srgbClr val="FFFFFF"/>
          </a:solidFill>
          <a:ln/>
          <a:effectLst>
            <a:outerShdw sx="100000" sy="100000" kx="0" ky="0" algn="bl" rotWithShape="0" blurRad="101600" dist="25400" dir="5400000">
              <a:srgbClr val="000000">
                <a:alpha val="10000"/>
              </a:srgbClr>
            </a:outerShdw>
          </a:effectLst>
        </p:spPr>
      </p:sp>
      <p:sp>
        <p:nvSpPr>
          <p:cNvPr id="6" name="Shape 4"/>
          <p:cNvSpPr/>
          <p:nvPr/>
        </p:nvSpPr>
        <p:spPr>
          <a:xfrm>
            <a:off x="3785616" y="2971800"/>
            <a:ext cx="530352" cy="530352"/>
          </a:xfrm>
          <a:prstGeom prst="ellipse">
            <a:avLst/>
          </a:prstGeom>
          <a:solidFill>
            <a:srgbClr val="FEE2E2"/>
          </a:solidFill>
          <a:ln/>
        </p:spPr>
      </p:sp>
      <p:pic>
        <p:nvPicPr>
          <p:cNvPr id="7" name="Image 0" descr="preencoded.png">    </p:cNvPr>
          <p:cNvPicPr>
            <a:picLocks noChangeAspect="1"/>
          </p:cNvPicPr>
          <p:nvPr/>
        </p:nvPicPr>
        <p:blipFill>
          <a:blip r:embed="rId1"/>
          <a:stretch>
            <a:fillRect/>
          </a:stretch>
        </p:blipFill>
        <p:spPr>
          <a:xfrm>
            <a:off x="3918204" y="3104388"/>
            <a:ext cx="265176" cy="265176"/>
          </a:xfrm>
          <a:prstGeom prst="rect">
            <a:avLst/>
          </a:prstGeom>
        </p:spPr>
      </p:pic>
      <p:sp>
        <p:nvSpPr>
          <p:cNvPr id="8" name="Text 5"/>
          <p:cNvSpPr/>
          <p:nvPr/>
        </p:nvSpPr>
        <p:spPr>
          <a:xfrm>
            <a:off x="4553712" y="2862072"/>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결과물만 보입니다</a:t>
            </a:r>
            <a:endParaRPr lang="en-US" sz="1550" dirty="0"/>
          </a:p>
        </p:txBody>
      </p:sp>
      <p:sp>
        <p:nvSpPr>
          <p:cNvPr id="9" name="Text 6"/>
          <p:cNvSpPr/>
          <p:nvPr/>
        </p:nvSpPr>
        <p:spPr>
          <a:xfrm>
            <a:off x="4553712" y="3236976"/>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교수님이 과정의 실제 기여를 확인하기 어렵습니다</a:t>
            </a:r>
            <a:endParaRPr lang="en-US" sz="1200" dirty="0"/>
          </a:p>
        </p:txBody>
      </p:sp>
      <p:sp>
        <p:nvSpPr>
          <p:cNvPr id="10" name="Shape 7"/>
          <p:cNvSpPr/>
          <p:nvPr/>
        </p:nvSpPr>
        <p:spPr>
          <a:xfrm>
            <a:off x="3566160" y="3950208"/>
            <a:ext cx="8001000" cy="987552"/>
          </a:xfrm>
          <a:prstGeom prst="roundRect">
            <a:avLst>
              <a:gd name="adj" fmla="val 9259"/>
            </a:avLst>
          </a:prstGeom>
          <a:solidFill>
            <a:srgbClr val="FFFFFF"/>
          </a:solidFill>
          <a:ln/>
          <a:effectLst>
            <a:outerShdw sx="100000" sy="100000" kx="0" ky="0" algn="bl" rotWithShape="0" blurRad="101600" dist="25400" dir="5400000">
              <a:srgbClr val="000000">
                <a:alpha val="10000"/>
              </a:srgbClr>
            </a:outerShdw>
          </a:effectLst>
        </p:spPr>
      </p:sp>
      <p:sp>
        <p:nvSpPr>
          <p:cNvPr id="11" name="Shape 8"/>
          <p:cNvSpPr/>
          <p:nvPr/>
        </p:nvSpPr>
        <p:spPr>
          <a:xfrm>
            <a:off x="3785616" y="4178808"/>
            <a:ext cx="530352" cy="530352"/>
          </a:xfrm>
          <a:prstGeom prst="ellipse">
            <a:avLst/>
          </a:prstGeom>
          <a:solidFill>
            <a:srgbClr val="FEE2E2"/>
          </a:solidFill>
          <a:ln/>
        </p:spPr>
      </p:sp>
      <p:pic>
        <p:nvPicPr>
          <p:cNvPr id="12" name="Image 1" descr="preencoded.png">    </p:cNvPr>
          <p:cNvPicPr>
            <a:picLocks noChangeAspect="1"/>
          </p:cNvPicPr>
          <p:nvPr/>
        </p:nvPicPr>
        <p:blipFill>
          <a:blip r:embed="rId2"/>
          <a:stretch>
            <a:fillRect/>
          </a:stretch>
        </p:blipFill>
        <p:spPr>
          <a:xfrm>
            <a:off x="3918204" y="4311396"/>
            <a:ext cx="265176" cy="265176"/>
          </a:xfrm>
          <a:prstGeom prst="rect">
            <a:avLst/>
          </a:prstGeom>
        </p:spPr>
      </p:pic>
      <p:sp>
        <p:nvSpPr>
          <p:cNvPr id="13" name="Text 9"/>
          <p:cNvSpPr/>
          <p:nvPr/>
        </p:nvSpPr>
        <p:spPr>
          <a:xfrm>
            <a:off x="4553712" y="4069080"/>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동료평가는 근거가 약합니다</a:t>
            </a:r>
            <a:endParaRPr lang="en-US" sz="1550" dirty="0"/>
          </a:p>
        </p:txBody>
      </p:sp>
      <p:sp>
        <p:nvSpPr>
          <p:cNvPr id="14" name="Text 10"/>
          <p:cNvSpPr/>
          <p:nvPr/>
        </p:nvSpPr>
        <p:spPr>
          <a:xfrm>
            <a:off x="4553712" y="4443984"/>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학기말 설문 한 번은 주관적이고 기록이 남지 않아요</a:t>
            </a:r>
            <a:endParaRPr lang="en-US" sz="1200" dirty="0"/>
          </a:p>
        </p:txBody>
      </p:sp>
      <p:sp>
        <p:nvSpPr>
          <p:cNvPr id="15" name="Shape 11"/>
          <p:cNvSpPr/>
          <p:nvPr/>
        </p:nvSpPr>
        <p:spPr>
          <a:xfrm>
            <a:off x="3566160" y="5157216"/>
            <a:ext cx="8001000" cy="987552"/>
          </a:xfrm>
          <a:prstGeom prst="roundRect">
            <a:avLst>
              <a:gd name="adj" fmla="val 9259"/>
            </a:avLst>
          </a:prstGeom>
          <a:solidFill>
            <a:srgbClr val="FFFFFF"/>
          </a:solidFill>
          <a:ln/>
          <a:effectLst>
            <a:outerShdw sx="100000" sy="100000" kx="0" ky="0" algn="bl" rotWithShape="0" blurRad="101600" dist="25400" dir="5400000">
              <a:srgbClr val="000000">
                <a:alpha val="10000"/>
              </a:srgbClr>
            </a:outerShdw>
          </a:effectLst>
        </p:spPr>
      </p:sp>
      <p:sp>
        <p:nvSpPr>
          <p:cNvPr id="16" name="Shape 12"/>
          <p:cNvSpPr/>
          <p:nvPr/>
        </p:nvSpPr>
        <p:spPr>
          <a:xfrm>
            <a:off x="3785616" y="5385816"/>
            <a:ext cx="530352" cy="530352"/>
          </a:xfrm>
          <a:prstGeom prst="ellipse">
            <a:avLst/>
          </a:prstGeom>
          <a:solidFill>
            <a:srgbClr val="FEE2E2"/>
          </a:solidFill>
          <a:ln/>
        </p:spPr>
      </p:sp>
      <p:pic>
        <p:nvPicPr>
          <p:cNvPr id="17" name="Image 2" descr="preencoded.png">    </p:cNvPr>
          <p:cNvPicPr>
            <a:picLocks noChangeAspect="1"/>
          </p:cNvPicPr>
          <p:nvPr/>
        </p:nvPicPr>
        <p:blipFill>
          <a:blip r:embed="rId3"/>
          <a:stretch>
            <a:fillRect/>
          </a:stretch>
        </p:blipFill>
        <p:spPr>
          <a:xfrm>
            <a:off x="3918204" y="5518404"/>
            <a:ext cx="265176" cy="265176"/>
          </a:xfrm>
          <a:prstGeom prst="rect">
            <a:avLst/>
          </a:prstGeom>
        </p:spPr>
      </p:pic>
      <p:sp>
        <p:nvSpPr>
          <p:cNvPr id="18" name="Text 13"/>
          <p:cNvSpPr/>
          <p:nvPr/>
        </p:nvSpPr>
        <p:spPr>
          <a:xfrm>
            <a:off x="4553712" y="5276088"/>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참여와 무관하게 같은 학점</a:t>
            </a:r>
            <a:endParaRPr lang="en-US" sz="1550" dirty="0"/>
          </a:p>
        </p:txBody>
      </p:sp>
      <p:sp>
        <p:nvSpPr>
          <p:cNvPr id="19" name="Text 14"/>
          <p:cNvSpPr/>
          <p:nvPr/>
        </p:nvSpPr>
        <p:spPr>
          <a:xfrm>
            <a:off x="4553712" y="5650992"/>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열심히 한 학생과 아닌 학생이 같은 점수를 받습니다</a:t>
            </a:r>
            <a:endParaRPr lang="en-US" sz="1200" dirty="0"/>
          </a:p>
        </p:txBody>
      </p:sp>
      <p:sp>
        <p:nvSpPr>
          <p:cNvPr id="20" name="Shape 15"/>
          <p:cNvSpPr/>
          <p:nvPr/>
        </p:nvSpPr>
        <p:spPr>
          <a:xfrm>
            <a:off x="566928" y="502920"/>
            <a:ext cx="2715672" cy="5806440"/>
          </a:xfrm>
          <a:prstGeom prst="roundRect">
            <a:avLst>
              <a:gd name="adj" fmla="val 12795"/>
            </a:avLst>
          </a:prstGeom>
          <a:solidFill>
            <a:srgbClr val="0B0B11"/>
          </a:solidFill>
          <a:ln/>
          <a:effectLst>
            <a:outerShdw sx="100000" sy="100000" kx="0" ky="0" algn="bl" rotWithShape="0" blurRad="165100" dist="63500" dir="5400000">
              <a:srgbClr val="000000">
                <a:alpha val="28000"/>
              </a:srgbClr>
            </a:outerShdw>
          </a:effectLst>
        </p:spPr>
      </p:sp>
      <p:pic>
        <p:nvPicPr>
          <p:cNvPr id="21" name="Image 3" descr="C:/Users/HP15~1/AppData/Local/Temp/claude/C--Users-HP-15-Desktop-Hackathon/e11a162a-fd90-4cff-922b-c82073c29db3/scratchpad/deck/assets/dev_survey.png">    </p:cNvPr>
          <p:cNvPicPr>
            <a:picLocks noChangeAspect="1"/>
          </p:cNvPicPr>
          <p:nvPr/>
        </p:nvPicPr>
        <p:blipFill>
          <a:blip r:embed="rId4"/>
          <a:stretch>
            <a:fillRect/>
          </a:stretch>
        </p:blipFill>
        <p:spPr>
          <a:xfrm>
            <a:off x="566928" y="502920"/>
            <a:ext cx="2715672" cy="5806440"/>
          </a:xfrm>
          <a:prstGeom prst="rect">
            <a:avLst/>
          </a:prstGeom>
        </p:spPr>
      </p:pic>
      <p:sp>
        <p:nvSpPr>
          <p:cNvPr id="22" name="Text 16"/>
          <p:cNvSpPr/>
          <p:nvPr/>
        </p:nvSpPr>
        <p:spPr>
          <a:xfrm>
            <a:off x="548640" y="6528816"/>
            <a:ext cx="7315200" cy="256032"/>
          </a:xfrm>
          <a:prstGeom prst="rect">
            <a:avLst/>
          </a:prstGeom>
          <a:noFill/>
          <a:ln/>
        </p:spPr>
        <p:txBody>
          <a:bodyPr wrap="square" lIns="0" tIns="0" rIns="0" bIns="0" rtlCol="0" anchor="ctr"/>
          <a:lstStyle/>
          <a:p>
            <a:pPr indent="0" marL="0">
              <a:buNone/>
            </a:pPr>
            <a:r>
              <a:rPr lang="en-US" sz="900" dirty="0">
                <a:solidFill>
                  <a:srgbClr val="94A3B8"/>
                </a:solidFill>
                <a:latin typeface="Pretendard" pitchFamily="34" charset="0"/>
                <a:ea typeface="Pretendard" pitchFamily="34" charset="-122"/>
                <a:cs typeface="Pretendard" pitchFamily="34" charset="-120"/>
              </a:rPr>
              <a:t>N분의1  ·  팀 프로젝트 기여도 증명·관리 플랫폼</a:t>
            </a:r>
            <a:endParaRPr lang="en-US" sz="900" dirty="0"/>
          </a:p>
        </p:txBody>
      </p:sp>
      <p:sp>
        <p:nvSpPr>
          <p:cNvPr id="23" name="Text 17"/>
          <p:cNvSpPr/>
          <p:nvPr/>
        </p:nvSpPr>
        <p:spPr>
          <a:xfrm>
            <a:off x="9966960" y="6528816"/>
            <a:ext cx="1673352" cy="256032"/>
          </a:xfrm>
          <a:prstGeom prst="rect">
            <a:avLst/>
          </a:prstGeom>
          <a:noFill/>
          <a:ln/>
        </p:spPr>
        <p:txBody>
          <a:bodyPr wrap="square" lIns="0" tIns="0" rIns="0" bIns="0" rtlCol="0" anchor="ctr"/>
          <a:lstStyle/>
          <a:p>
            <a:pPr algn="r" indent="0" marL="0">
              <a:buNone/>
            </a:pPr>
            <a:r>
              <a:rPr lang="en-US" sz="900" dirty="0">
                <a:solidFill>
                  <a:srgbClr val="94A3B8"/>
                </a:solidFill>
                <a:latin typeface="Pretendard" pitchFamily="34" charset="0"/>
                <a:ea typeface="Pretendard" pitchFamily="34" charset="-122"/>
                <a:cs typeface="Pretendard" pitchFamily="34" charset="-120"/>
              </a:rPr>
              <a:t>02  /  05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548640"/>
            <a:ext cx="9144000" cy="310896"/>
          </a:xfrm>
          <a:prstGeom prst="rect">
            <a:avLst/>
          </a:prstGeom>
          <a:noFill/>
          <a:ln/>
        </p:spPr>
        <p:txBody>
          <a:bodyPr wrap="square" lIns="0" tIns="0" rIns="0" bIns="0" rtlCol="0" anchor="ctr"/>
          <a:lstStyle/>
          <a:p>
            <a:pPr indent="0" marL="0">
              <a:buNone/>
            </a:pPr>
            <a:r>
              <a:rPr lang="en-US" sz="1100" b="1" dirty="0">
                <a:solidFill>
                  <a:srgbClr val="4F46E5"/>
                </a:solidFill>
                <a:latin typeface="Pretendard" pitchFamily="34" charset="0"/>
                <a:ea typeface="Pretendard" pitchFamily="34" charset="-122"/>
                <a:cs typeface="Pretendard" pitchFamily="34" charset="-120"/>
              </a:rPr>
              <a:t>●  </a:t>
            </a:r>
            <a:pPr indent="0" marL="0">
              <a:buNone/>
            </a:pPr>
            <a:r>
              <a:rPr lang="en-US" sz="1250" b="1" spc="100" kern="0" dirty="0">
                <a:solidFill>
                  <a:srgbClr val="4F46E5"/>
                </a:solidFill>
                <a:latin typeface="Pretendard" pitchFamily="34" charset="0"/>
                <a:ea typeface="Pretendard" pitchFamily="34" charset="-122"/>
                <a:cs typeface="Pretendard" pitchFamily="34" charset="-120"/>
              </a:rPr>
              <a:t>HOW IT WORKS · 작동 방식</a:t>
            </a:r>
            <a:endParaRPr lang="en-US" sz="1100" dirty="0"/>
          </a:p>
        </p:txBody>
      </p:sp>
      <p:sp>
        <p:nvSpPr>
          <p:cNvPr id="3" name="Text 1"/>
          <p:cNvSpPr/>
          <p:nvPr/>
        </p:nvSpPr>
        <p:spPr>
          <a:xfrm>
            <a:off x="566928" y="914400"/>
            <a:ext cx="11064240" cy="1371600"/>
          </a:xfrm>
          <a:prstGeom prst="rect">
            <a:avLst/>
          </a:prstGeom>
          <a:noFill/>
          <a:ln/>
        </p:spPr>
        <p:txBody>
          <a:bodyPr wrap="square" lIns="0" tIns="0" rIns="0" bIns="0" rtlCol="0" anchor="t"/>
          <a:lstStyle/>
          <a:p>
            <a:pPr algn="l" indent="0" marL="0">
              <a:lnSpc>
                <a:spcPct val="103000"/>
              </a:lnSpc>
              <a:buNone/>
            </a:pPr>
            <a:r>
              <a:rPr lang="en-US" sz="3100" b="1" spc="-30" kern="0" dirty="0">
                <a:solidFill>
                  <a:srgbClr val="1E293B"/>
                </a:solidFill>
                <a:latin typeface="Pretendard" pitchFamily="34" charset="0"/>
                <a:ea typeface="Pretendard" pitchFamily="34" charset="-122"/>
                <a:cs typeface="Pretendard" pitchFamily="34" charset="-120"/>
              </a:rPr>
              <a:t>학기 중 기록이 </a:t>
            </a:r>
            <a:pPr algn="l" indent="0" marL="0">
              <a:lnSpc>
                <a:spcPct val="103000"/>
              </a:lnSpc>
              <a:buNone/>
            </a:pPr>
            <a:r>
              <a:rPr lang="en-US" sz="3100" b="1" spc="-30" kern="0" dirty="0">
                <a:solidFill>
                  <a:srgbClr val="4F46E5"/>
                </a:solidFill>
                <a:latin typeface="Pretendard" pitchFamily="34" charset="0"/>
                <a:ea typeface="Pretendard" pitchFamily="34" charset="-122"/>
                <a:cs typeface="Pretendard" pitchFamily="34" charset="-120"/>
              </a:rPr>
              <a:t>학기말 평가의 근거</a:t>
            </a:r>
            <a:pPr algn="l" indent="0" marL="0">
              <a:lnSpc>
                <a:spcPct val="103000"/>
              </a:lnSpc>
              <a:buNone/>
            </a:pPr>
            <a:r>
              <a:rPr lang="en-US" sz="3100" b="1" spc="-30" kern="0" dirty="0">
                <a:solidFill>
                  <a:srgbClr val="1E293B"/>
                </a:solidFill>
                <a:latin typeface="Pretendard" pitchFamily="34" charset="0"/>
                <a:ea typeface="Pretendard" pitchFamily="34" charset="-122"/>
                <a:cs typeface="Pretendard" pitchFamily="34" charset="-120"/>
              </a:rPr>
              <a:t>가 됩니다</a:t>
            </a:r>
            <a:endParaRPr lang="en-US" sz="3100" dirty="0"/>
          </a:p>
        </p:txBody>
      </p:sp>
      <p:sp>
        <p:nvSpPr>
          <p:cNvPr id="4" name="Text 2"/>
          <p:cNvSpPr/>
          <p:nvPr/>
        </p:nvSpPr>
        <p:spPr>
          <a:xfrm>
            <a:off x="585216" y="1572768"/>
            <a:ext cx="10058400" cy="402336"/>
          </a:xfrm>
          <a:prstGeom prst="rect">
            <a:avLst/>
          </a:prstGeom>
          <a:noFill/>
          <a:ln/>
        </p:spPr>
        <p:txBody>
          <a:bodyPr wrap="square" lIns="0" tIns="0" rIns="0" bIns="0" rtlCol="0" anchor="ctr"/>
          <a:lstStyle/>
          <a:p>
            <a:pPr indent="0" marL="0">
              <a:buNone/>
            </a:pPr>
            <a:r>
              <a:rPr lang="en-US" sz="1500" dirty="0">
                <a:solidFill>
                  <a:srgbClr val="64748B"/>
                </a:solidFill>
                <a:latin typeface="Pretendard" pitchFamily="34" charset="0"/>
                <a:ea typeface="Pretendard" pitchFamily="34" charset="-122"/>
                <a:cs typeface="Pretendard" pitchFamily="34" charset="-120"/>
              </a:rPr>
              <a:t>네 단계로, 말이 아닌 데이터가 쌓입니다</a:t>
            </a:r>
            <a:endParaRPr lang="en-US" sz="1500" dirty="0"/>
          </a:p>
        </p:txBody>
      </p:sp>
      <p:sp>
        <p:nvSpPr>
          <p:cNvPr id="5" name="Shape 3"/>
          <p:cNvSpPr/>
          <p:nvPr/>
        </p:nvSpPr>
        <p:spPr>
          <a:xfrm>
            <a:off x="566928" y="2880360"/>
            <a:ext cx="2450592" cy="2514600"/>
          </a:xfrm>
          <a:prstGeom prst="roundRect">
            <a:avLst>
              <a:gd name="adj" fmla="val 3731"/>
            </a:avLst>
          </a:prstGeom>
          <a:solidFill>
            <a:srgbClr val="FFFFFF"/>
          </a:solidFill>
          <a:ln/>
          <a:effectLst>
            <a:outerShdw sx="100000" sy="100000" kx="0" ky="0" algn="bl" rotWithShape="0" blurRad="101600" dist="25400" dir="5400000">
              <a:srgbClr val="000000">
                <a:alpha val="10000"/>
              </a:srgbClr>
            </a:outerShdw>
          </a:effectLst>
        </p:spPr>
      </p:sp>
      <p:sp>
        <p:nvSpPr>
          <p:cNvPr id="6" name="Text 4"/>
          <p:cNvSpPr/>
          <p:nvPr/>
        </p:nvSpPr>
        <p:spPr>
          <a:xfrm>
            <a:off x="749808" y="3081528"/>
            <a:ext cx="914400" cy="365760"/>
          </a:xfrm>
          <a:prstGeom prst="rect">
            <a:avLst/>
          </a:prstGeom>
          <a:noFill/>
          <a:ln/>
        </p:spPr>
        <p:txBody>
          <a:bodyPr wrap="square" lIns="0" tIns="0" rIns="0" bIns="0" rtlCol="0" anchor="ctr"/>
          <a:lstStyle/>
          <a:p>
            <a:pPr indent="0" marL="0">
              <a:buNone/>
            </a:pPr>
            <a:r>
              <a:rPr lang="en-US" sz="1500" b="1" dirty="0">
                <a:solidFill>
                  <a:srgbClr val="6366F1"/>
                </a:solidFill>
                <a:latin typeface="Pretendard" pitchFamily="34" charset="0"/>
                <a:ea typeface="Pretendard" pitchFamily="34" charset="-122"/>
                <a:cs typeface="Pretendard" pitchFamily="34" charset="-120"/>
              </a:rPr>
              <a:t>01</a:t>
            </a:r>
            <a:endParaRPr lang="en-US" sz="1500" dirty="0"/>
          </a:p>
        </p:txBody>
      </p:sp>
      <p:sp>
        <p:nvSpPr>
          <p:cNvPr id="7" name="Shape 5"/>
          <p:cNvSpPr/>
          <p:nvPr/>
        </p:nvSpPr>
        <p:spPr>
          <a:xfrm>
            <a:off x="1380744" y="3520440"/>
            <a:ext cx="822960" cy="822960"/>
          </a:xfrm>
          <a:prstGeom prst="ellipse">
            <a:avLst/>
          </a:prstGeom>
          <a:solidFill>
            <a:srgbClr val="4F46E5"/>
          </a:solidFill>
          <a:ln/>
        </p:spPr>
      </p:sp>
      <p:pic>
        <p:nvPicPr>
          <p:cNvPr id="8" name="Image 0" descr="preencoded.png">    </p:cNvPr>
          <p:cNvPicPr>
            <a:picLocks noChangeAspect="1"/>
          </p:cNvPicPr>
          <p:nvPr/>
        </p:nvPicPr>
        <p:blipFill>
          <a:blip r:embed="rId1"/>
          <a:stretch>
            <a:fillRect/>
          </a:stretch>
        </p:blipFill>
        <p:spPr>
          <a:xfrm>
            <a:off x="1586484" y="3726180"/>
            <a:ext cx="411480" cy="411480"/>
          </a:xfrm>
          <a:prstGeom prst="rect">
            <a:avLst/>
          </a:prstGeom>
        </p:spPr>
      </p:pic>
      <p:sp>
        <p:nvSpPr>
          <p:cNvPr id="9" name="Text 6"/>
          <p:cNvSpPr/>
          <p:nvPr/>
        </p:nvSpPr>
        <p:spPr>
          <a:xfrm>
            <a:off x="566928" y="4453128"/>
            <a:ext cx="2450592" cy="365760"/>
          </a:xfrm>
          <a:prstGeom prst="rect">
            <a:avLst/>
          </a:prstGeom>
          <a:noFill/>
          <a:ln/>
        </p:spPr>
        <p:txBody>
          <a:bodyPr wrap="square" lIns="0" tIns="0" rIns="0" bIns="0" rtlCol="0" anchor="ctr"/>
          <a:lstStyle/>
          <a:p>
            <a:pPr algn="ctr" indent="0" marL="0">
              <a:buNone/>
            </a:pPr>
            <a:r>
              <a:rPr lang="en-US" sz="1500" b="1" dirty="0">
                <a:solidFill>
                  <a:srgbClr val="1E293B"/>
                </a:solidFill>
                <a:latin typeface="Pretendard" pitchFamily="34" charset="0"/>
                <a:ea typeface="Pretendard" pitchFamily="34" charset="-122"/>
                <a:cs typeface="Pretendard" pitchFamily="34" charset="-120"/>
              </a:rPr>
              <a:t>학생 기록</a:t>
            </a:r>
            <a:endParaRPr lang="en-US" sz="1500" dirty="0"/>
          </a:p>
        </p:txBody>
      </p:sp>
      <p:sp>
        <p:nvSpPr>
          <p:cNvPr id="10" name="Text 7"/>
          <p:cNvSpPr/>
          <p:nvPr/>
        </p:nvSpPr>
        <p:spPr>
          <a:xfrm>
            <a:off x="658368" y="4818888"/>
            <a:ext cx="2267712" cy="512064"/>
          </a:xfrm>
          <a:prstGeom prst="rect">
            <a:avLst/>
          </a:prstGeom>
          <a:noFill/>
          <a:ln/>
        </p:spPr>
        <p:txBody>
          <a:bodyPr wrap="square" lIns="0" tIns="0" rIns="0" bIns="0" rtlCol="0" anchor="ctr"/>
          <a:lstStyle/>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활동·소요시간을</a:t>
            </a:r>
            <a:endParaRPr lang="en-US" sz="1100" dirty="0"/>
          </a:p>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잔디로 시각화</a:t>
            </a:r>
            <a:endParaRPr lang="en-US" sz="1100" dirty="0"/>
          </a:p>
        </p:txBody>
      </p:sp>
      <p:sp>
        <p:nvSpPr>
          <p:cNvPr id="11" name="Text 8"/>
          <p:cNvSpPr/>
          <p:nvPr/>
        </p:nvSpPr>
        <p:spPr>
          <a:xfrm>
            <a:off x="2971800" y="2880360"/>
            <a:ext cx="548640" cy="2514600"/>
          </a:xfrm>
          <a:prstGeom prst="rect">
            <a:avLst/>
          </a:prstGeom>
          <a:noFill/>
          <a:ln/>
        </p:spPr>
        <p:txBody>
          <a:bodyPr wrap="square" lIns="0" tIns="0" rIns="0" bIns="0" rtlCol="0" anchor="ctr"/>
          <a:lstStyle/>
          <a:p>
            <a:pPr algn="ctr" indent="0" marL="0">
              <a:buNone/>
            </a:pPr>
            <a:r>
              <a:rPr lang="en-US" sz="3400" b="1" dirty="0">
                <a:solidFill>
                  <a:srgbClr val="6366F1"/>
                </a:solidFill>
                <a:latin typeface="Pretendard" pitchFamily="34" charset="0"/>
                <a:ea typeface="Pretendard" pitchFamily="34" charset="-122"/>
                <a:cs typeface="Pretendard" pitchFamily="34" charset="-120"/>
              </a:rPr>
              <a:t>›</a:t>
            </a:r>
            <a:endParaRPr lang="en-US" sz="3400" dirty="0"/>
          </a:p>
        </p:txBody>
      </p:sp>
      <p:sp>
        <p:nvSpPr>
          <p:cNvPr id="12" name="Shape 9"/>
          <p:cNvSpPr/>
          <p:nvPr/>
        </p:nvSpPr>
        <p:spPr>
          <a:xfrm>
            <a:off x="3474720" y="2880360"/>
            <a:ext cx="2450592" cy="2514600"/>
          </a:xfrm>
          <a:prstGeom prst="roundRect">
            <a:avLst>
              <a:gd name="adj" fmla="val 3731"/>
            </a:avLst>
          </a:prstGeom>
          <a:solidFill>
            <a:srgbClr val="FFFFFF"/>
          </a:solidFill>
          <a:ln/>
          <a:effectLst>
            <a:outerShdw sx="100000" sy="100000" kx="0" ky="0" algn="bl" rotWithShape="0" blurRad="101600" dist="25400" dir="5400000">
              <a:srgbClr val="000000">
                <a:alpha val="10000"/>
              </a:srgbClr>
            </a:outerShdw>
          </a:effectLst>
        </p:spPr>
      </p:sp>
      <p:sp>
        <p:nvSpPr>
          <p:cNvPr id="13" name="Text 10"/>
          <p:cNvSpPr/>
          <p:nvPr/>
        </p:nvSpPr>
        <p:spPr>
          <a:xfrm>
            <a:off x="3657600" y="3081528"/>
            <a:ext cx="914400" cy="365760"/>
          </a:xfrm>
          <a:prstGeom prst="rect">
            <a:avLst/>
          </a:prstGeom>
          <a:noFill/>
          <a:ln/>
        </p:spPr>
        <p:txBody>
          <a:bodyPr wrap="square" lIns="0" tIns="0" rIns="0" bIns="0" rtlCol="0" anchor="ctr"/>
          <a:lstStyle/>
          <a:p>
            <a:pPr indent="0" marL="0">
              <a:buNone/>
            </a:pPr>
            <a:r>
              <a:rPr lang="en-US" sz="1500" b="1" dirty="0">
                <a:solidFill>
                  <a:srgbClr val="6366F1"/>
                </a:solidFill>
                <a:latin typeface="Pretendard" pitchFamily="34" charset="0"/>
                <a:ea typeface="Pretendard" pitchFamily="34" charset="-122"/>
                <a:cs typeface="Pretendard" pitchFamily="34" charset="-120"/>
              </a:rPr>
              <a:t>02</a:t>
            </a:r>
            <a:endParaRPr lang="en-US" sz="1500" dirty="0"/>
          </a:p>
        </p:txBody>
      </p:sp>
      <p:sp>
        <p:nvSpPr>
          <p:cNvPr id="14" name="Shape 11"/>
          <p:cNvSpPr/>
          <p:nvPr/>
        </p:nvSpPr>
        <p:spPr>
          <a:xfrm>
            <a:off x="4288536" y="3520440"/>
            <a:ext cx="822960" cy="822960"/>
          </a:xfrm>
          <a:prstGeom prst="ellipse">
            <a:avLst/>
          </a:prstGeom>
          <a:solidFill>
            <a:srgbClr val="4F46E5"/>
          </a:solidFill>
          <a:ln/>
        </p:spPr>
      </p:sp>
      <p:pic>
        <p:nvPicPr>
          <p:cNvPr id="15" name="Image 1" descr="preencoded.png">    </p:cNvPr>
          <p:cNvPicPr>
            <a:picLocks noChangeAspect="1"/>
          </p:cNvPicPr>
          <p:nvPr/>
        </p:nvPicPr>
        <p:blipFill>
          <a:blip r:embed="rId2"/>
          <a:stretch>
            <a:fillRect/>
          </a:stretch>
        </p:blipFill>
        <p:spPr>
          <a:xfrm>
            <a:off x="4494276" y="3726180"/>
            <a:ext cx="411480" cy="411480"/>
          </a:xfrm>
          <a:prstGeom prst="rect">
            <a:avLst/>
          </a:prstGeom>
        </p:spPr>
      </p:pic>
      <p:sp>
        <p:nvSpPr>
          <p:cNvPr id="16" name="Text 12"/>
          <p:cNvSpPr/>
          <p:nvPr/>
        </p:nvSpPr>
        <p:spPr>
          <a:xfrm>
            <a:off x="3474720" y="4453128"/>
            <a:ext cx="2450592" cy="365760"/>
          </a:xfrm>
          <a:prstGeom prst="rect">
            <a:avLst/>
          </a:prstGeom>
          <a:noFill/>
          <a:ln/>
        </p:spPr>
        <p:txBody>
          <a:bodyPr wrap="square" lIns="0" tIns="0" rIns="0" bIns="0" rtlCol="0" anchor="ctr"/>
          <a:lstStyle/>
          <a:p>
            <a:pPr algn="ctr" indent="0" marL="0">
              <a:buNone/>
            </a:pPr>
            <a:r>
              <a:rPr lang="en-US" sz="1500" b="1" dirty="0">
                <a:solidFill>
                  <a:srgbClr val="1E293B"/>
                </a:solidFill>
                <a:latin typeface="Pretendard" pitchFamily="34" charset="0"/>
                <a:ea typeface="Pretendard" pitchFamily="34" charset="-122"/>
                <a:cs typeface="Pretendard" pitchFamily="34" charset="-120"/>
              </a:rPr>
              <a:t>익명 동료평가</a:t>
            </a:r>
            <a:endParaRPr lang="en-US" sz="1500" dirty="0"/>
          </a:p>
        </p:txBody>
      </p:sp>
      <p:sp>
        <p:nvSpPr>
          <p:cNvPr id="17" name="Text 13"/>
          <p:cNvSpPr/>
          <p:nvPr/>
        </p:nvSpPr>
        <p:spPr>
          <a:xfrm>
            <a:off x="3566160" y="4818888"/>
            <a:ext cx="2267712" cy="512064"/>
          </a:xfrm>
          <a:prstGeom prst="rect">
            <a:avLst/>
          </a:prstGeom>
          <a:noFill/>
          <a:ln/>
        </p:spPr>
        <p:txBody>
          <a:bodyPr wrap="square" lIns="0" tIns="0" rIns="0" bIns="0" rtlCol="0" anchor="ctr"/>
          <a:lstStyle/>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기여·책임·협업·소통</a:t>
            </a:r>
            <a:endParaRPr lang="en-US" sz="1100" dirty="0"/>
          </a:p>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4개 항목 평가</a:t>
            </a:r>
            <a:endParaRPr lang="en-US" sz="1100" dirty="0"/>
          </a:p>
        </p:txBody>
      </p:sp>
      <p:sp>
        <p:nvSpPr>
          <p:cNvPr id="18" name="Text 14"/>
          <p:cNvSpPr/>
          <p:nvPr/>
        </p:nvSpPr>
        <p:spPr>
          <a:xfrm>
            <a:off x="5879592" y="2880360"/>
            <a:ext cx="548640" cy="2514600"/>
          </a:xfrm>
          <a:prstGeom prst="rect">
            <a:avLst/>
          </a:prstGeom>
          <a:noFill/>
          <a:ln/>
        </p:spPr>
        <p:txBody>
          <a:bodyPr wrap="square" lIns="0" tIns="0" rIns="0" bIns="0" rtlCol="0" anchor="ctr"/>
          <a:lstStyle/>
          <a:p>
            <a:pPr algn="ctr" indent="0" marL="0">
              <a:buNone/>
            </a:pPr>
            <a:r>
              <a:rPr lang="en-US" sz="3400" b="1" dirty="0">
                <a:solidFill>
                  <a:srgbClr val="6366F1"/>
                </a:solidFill>
                <a:latin typeface="Pretendard" pitchFamily="34" charset="0"/>
                <a:ea typeface="Pretendard" pitchFamily="34" charset="-122"/>
                <a:cs typeface="Pretendard" pitchFamily="34" charset="-120"/>
              </a:rPr>
              <a:t>›</a:t>
            </a:r>
            <a:endParaRPr lang="en-US" sz="3400" dirty="0"/>
          </a:p>
        </p:txBody>
      </p:sp>
      <p:sp>
        <p:nvSpPr>
          <p:cNvPr id="19" name="Shape 15"/>
          <p:cNvSpPr/>
          <p:nvPr/>
        </p:nvSpPr>
        <p:spPr>
          <a:xfrm>
            <a:off x="6382512" y="2880360"/>
            <a:ext cx="2450592" cy="2514600"/>
          </a:xfrm>
          <a:prstGeom prst="roundRect">
            <a:avLst>
              <a:gd name="adj" fmla="val 3731"/>
            </a:avLst>
          </a:prstGeom>
          <a:solidFill>
            <a:srgbClr val="FFFFFF"/>
          </a:solidFill>
          <a:ln/>
          <a:effectLst>
            <a:outerShdw sx="100000" sy="100000" kx="0" ky="0" algn="bl" rotWithShape="0" blurRad="101600" dist="25400" dir="5400000">
              <a:srgbClr val="000000">
                <a:alpha val="10000"/>
              </a:srgbClr>
            </a:outerShdw>
          </a:effectLst>
        </p:spPr>
      </p:sp>
      <p:sp>
        <p:nvSpPr>
          <p:cNvPr id="20" name="Text 16"/>
          <p:cNvSpPr/>
          <p:nvPr/>
        </p:nvSpPr>
        <p:spPr>
          <a:xfrm>
            <a:off x="6565392" y="3081528"/>
            <a:ext cx="914400" cy="365760"/>
          </a:xfrm>
          <a:prstGeom prst="rect">
            <a:avLst/>
          </a:prstGeom>
          <a:noFill/>
          <a:ln/>
        </p:spPr>
        <p:txBody>
          <a:bodyPr wrap="square" lIns="0" tIns="0" rIns="0" bIns="0" rtlCol="0" anchor="ctr"/>
          <a:lstStyle/>
          <a:p>
            <a:pPr indent="0" marL="0">
              <a:buNone/>
            </a:pPr>
            <a:r>
              <a:rPr lang="en-US" sz="1500" b="1" dirty="0">
                <a:solidFill>
                  <a:srgbClr val="6366F1"/>
                </a:solidFill>
                <a:latin typeface="Pretendard" pitchFamily="34" charset="0"/>
                <a:ea typeface="Pretendard" pitchFamily="34" charset="-122"/>
                <a:cs typeface="Pretendard" pitchFamily="34" charset="-120"/>
              </a:rPr>
              <a:t>03</a:t>
            </a:r>
            <a:endParaRPr lang="en-US" sz="1500" dirty="0"/>
          </a:p>
        </p:txBody>
      </p:sp>
      <p:sp>
        <p:nvSpPr>
          <p:cNvPr id="21" name="Shape 17"/>
          <p:cNvSpPr/>
          <p:nvPr/>
        </p:nvSpPr>
        <p:spPr>
          <a:xfrm>
            <a:off x="7196328" y="3520440"/>
            <a:ext cx="822960" cy="822960"/>
          </a:xfrm>
          <a:prstGeom prst="ellipse">
            <a:avLst/>
          </a:prstGeom>
          <a:solidFill>
            <a:srgbClr val="4F46E5"/>
          </a:solidFill>
          <a:ln/>
        </p:spPr>
      </p:sp>
      <p:pic>
        <p:nvPicPr>
          <p:cNvPr id="22" name="Image 2" descr="preencoded.png">    </p:cNvPr>
          <p:cNvPicPr>
            <a:picLocks noChangeAspect="1"/>
          </p:cNvPicPr>
          <p:nvPr/>
        </p:nvPicPr>
        <p:blipFill>
          <a:blip r:embed="rId3"/>
          <a:stretch>
            <a:fillRect/>
          </a:stretch>
        </p:blipFill>
        <p:spPr>
          <a:xfrm>
            <a:off x="7402068" y="3726180"/>
            <a:ext cx="411480" cy="411480"/>
          </a:xfrm>
          <a:prstGeom prst="rect">
            <a:avLst/>
          </a:prstGeom>
        </p:spPr>
      </p:pic>
      <p:sp>
        <p:nvSpPr>
          <p:cNvPr id="23" name="Text 18"/>
          <p:cNvSpPr/>
          <p:nvPr/>
        </p:nvSpPr>
        <p:spPr>
          <a:xfrm>
            <a:off x="6382512" y="4453128"/>
            <a:ext cx="2450592" cy="365760"/>
          </a:xfrm>
          <a:prstGeom prst="rect">
            <a:avLst/>
          </a:prstGeom>
          <a:noFill/>
          <a:ln/>
        </p:spPr>
        <p:txBody>
          <a:bodyPr wrap="square" lIns="0" tIns="0" rIns="0" bIns="0" rtlCol="0" anchor="ctr"/>
          <a:lstStyle/>
          <a:p>
            <a:pPr algn="ctr" indent="0" marL="0">
              <a:buNone/>
            </a:pPr>
            <a:r>
              <a:rPr lang="en-US" sz="1500" b="1" dirty="0">
                <a:solidFill>
                  <a:srgbClr val="1E293B"/>
                </a:solidFill>
                <a:latin typeface="Pretendard" pitchFamily="34" charset="0"/>
                <a:ea typeface="Pretendard" pitchFamily="34" charset="-122"/>
                <a:cs typeface="Pretendard" pitchFamily="34" charset="-120"/>
              </a:rPr>
              <a:t>AI 교차검증</a:t>
            </a:r>
            <a:endParaRPr lang="en-US" sz="1500" dirty="0"/>
          </a:p>
        </p:txBody>
      </p:sp>
      <p:sp>
        <p:nvSpPr>
          <p:cNvPr id="24" name="Text 19"/>
          <p:cNvSpPr/>
          <p:nvPr/>
        </p:nvSpPr>
        <p:spPr>
          <a:xfrm>
            <a:off x="6473952" y="4818888"/>
            <a:ext cx="2267712" cy="512064"/>
          </a:xfrm>
          <a:prstGeom prst="rect">
            <a:avLst/>
          </a:prstGeom>
          <a:noFill/>
          <a:ln/>
        </p:spPr>
        <p:txBody>
          <a:bodyPr wrap="square" lIns="0" tIns="0" rIns="0" bIns="0" rtlCol="0" anchor="ctr"/>
          <a:lstStyle/>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기록 vs 평가를</a:t>
            </a:r>
            <a:endParaRPr lang="en-US" sz="1100" dirty="0"/>
          </a:p>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대조·분석</a:t>
            </a:r>
            <a:endParaRPr lang="en-US" sz="1100" dirty="0"/>
          </a:p>
        </p:txBody>
      </p:sp>
      <p:sp>
        <p:nvSpPr>
          <p:cNvPr id="25" name="Text 20"/>
          <p:cNvSpPr/>
          <p:nvPr/>
        </p:nvSpPr>
        <p:spPr>
          <a:xfrm>
            <a:off x="8787384" y="2880360"/>
            <a:ext cx="548640" cy="2514600"/>
          </a:xfrm>
          <a:prstGeom prst="rect">
            <a:avLst/>
          </a:prstGeom>
          <a:noFill/>
          <a:ln/>
        </p:spPr>
        <p:txBody>
          <a:bodyPr wrap="square" lIns="0" tIns="0" rIns="0" bIns="0" rtlCol="0" anchor="ctr"/>
          <a:lstStyle/>
          <a:p>
            <a:pPr algn="ctr" indent="0" marL="0">
              <a:buNone/>
            </a:pPr>
            <a:r>
              <a:rPr lang="en-US" sz="3400" b="1" dirty="0">
                <a:solidFill>
                  <a:srgbClr val="6366F1"/>
                </a:solidFill>
                <a:latin typeface="Pretendard" pitchFamily="34" charset="0"/>
                <a:ea typeface="Pretendard" pitchFamily="34" charset="-122"/>
                <a:cs typeface="Pretendard" pitchFamily="34" charset="-120"/>
              </a:rPr>
              <a:t>›</a:t>
            </a:r>
            <a:endParaRPr lang="en-US" sz="3400" dirty="0"/>
          </a:p>
        </p:txBody>
      </p:sp>
      <p:sp>
        <p:nvSpPr>
          <p:cNvPr id="26" name="Shape 21"/>
          <p:cNvSpPr/>
          <p:nvPr/>
        </p:nvSpPr>
        <p:spPr>
          <a:xfrm>
            <a:off x="9290304" y="2880360"/>
            <a:ext cx="2450592" cy="2514600"/>
          </a:xfrm>
          <a:prstGeom prst="roundRect">
            <a:avLst>
              <a:gd name="adj" fmla="val 3731"/>
            </a:avLst>
          </a:prstGeom>
          <a:solidFill>
            <a:srgbClr val="FFFFFF"/>
          </a:solidFill>
          <a:ln/>
          <a:effectLst>
            <a:outerShdw sx="100000" sy="100000" kx="0" ky="0" algn="bl" rotWithShape="0" blurRad="101600" dist="25400" dir="5400000">
              <a:srgbClr val="000000">
                <a:alpha val="10000"/>
              </a:srgbClr>
            </a:outerShdw>
          </a:effectLst>
        </p:spPr>
      </p:sp>
      <p:sp>
        <p:nvSpPr>
          <p:cNvPr id="27" name="Text 22"/>
          <p:cNvSpPr/>
          <p:nvPr/>
        </p:nvSpPr>
        <p:spPr>
          <a:xfrm>
            <a:off x="9473184" y="3081528"/>
            <a:ext cx="914400" cy="365760"/>
          </a:xfrm>
          <a:prstGeom prst="rect">
            <a:avLst/>
          </a:prstGeom>
          <a:noFill/>
          <a:ln/>
        </p:spPr>
        <p:txBody>
          <a:bodyPr wrap="square" lIns="0" tIns="0" rIns="0" bIns="0" rtlCol="0" anchor="ctr"/>
          <a:lstStyle/>
          <a:p>
            <a:pPr indent="0" marL="0">
              <a:buNone/>
            </a:pPr>
            <a:r>
              <a:rPr lang="en-US" sz="1500" b="1" dirty="0">
                <a:solidFill>
                  <a:srgbClr val="6366F1"/>
                </a:solidFill>
                <a:latin typeface="Pretendard" pitchFamily="34" charset="0"/>
                <a:ea typeface="Pretendard" pitchFamily="34" charset="-122"/>
                <a:cs typeface="Pretendard" pitchFamily="34" charset="-120"/>
              </a:rPr>
              <a:t>04</a:t>
            </a:r>
            <a:endParaRPr lang="en-US" sz="1500" dirty="0"/>
          </a:p>
        </p:txBody>
      </p:sp>
      <p:sp>
        <p:nvSpPr>
          <p:cNvPr id="28" name="Shape 23"/>
          <p:cNvSpPr/>
          <p:nvPr/>
        </p:nvSpPr>
        <p:spPr>
          <a:xfrm>
            <a:off x="10104120" y="3520440"/>
            <a:ext cx="822960" cy="822960"/>
          </a:xfrm>
          <a:prstGeom prst="ellipse">
            <a:avLst/>
          </a:prstGeom>
          <a:solidFill>
            <a:srgbClr val="4F46E5"/>
          </a:solidFill>
          <a:ln/>
        </p:spPr>
      </p:sp>
      <p:pic>
        <p:nvPicPr>
          <p:cNvPr id="29" name="Image 3" descr="preencoded.png">    </p:cNvPr>
          <p:cNvPicPr>
            <a:picLocks noChangeAspect="1"/>
          </p:cNvPicPr>
          <p:nvPr/>
        </p:nvPicPr>
        <p:blipFill>
          <a:blip r:embed="rId4"/>
          <a:stretch>
            <a:fillRect/>
          </a:stretch>
        </p:blipFill>
        <p:spPr>
          <a:xfrm>
            <a:off x="10309860" y="3726180"/>
            <a:ext cx="411480" cy="411480"/>
          </a:xfrm>
          <a:prstGeom prst="rect">
            <a:avLst/>
          </a:prstGeom>
        </p:spPr>
      </p:pic>
      <p:sp>
        <p:nvSpPr>
          <p:cNvPr id="30" name="Text 24"/>
          <p:cNvSpPr/>
          <p:nvPr/>
        </p:nvSpPr>
        <p:spPr>
          <a:xfrm>
            <a:off x="9290304" y="4453128"/>
            <a:ext cx="2450592" cy="365760"/>
          </a:xfrm>
          <a:prstGeom prst="rect">
            <a:avLst/>
          </a:prstGeom>
          <a:noFill/>
          <a:ln/>
        </p:spPr>
        <p:txBody>
          <a:bodyPr wrap="square" lIns="0" tIns="0" rIns="0" bIns="0" rtlCol="0" anchor="ctr"/>
          <a:lstStyle/>
          <a:p>
            <a:pPr algn="ctr" indent="0" marL="0">
              <a:buNone/>
            </a:pPr>
            <a:r>
              <a:rPr lang="en-US" sz="1500" b="1" dirty="0">
                <a:solidFill>
                  <a:srgbClr val="1E293B"/>
                </a:solidFill>
                <a:latin typeface="Pretendard" pitchFamily="34" charset="0"/>
                <a:ea typeface="Pretendard" pitchFamily="34" charset="-122"/>
                <a:cs typeface="Pretendard" pitchFamily="34" charset="-120"/>
              </a:rPr>
              <a:t>교수 대시보드</a:t>
            </a:r>
            <a:endParaRPr lang="en-US" sz="1500" dirty="0"/>
          </a:p>
        </p:txBody>
      </p:sp>
      <p:sp>
        <p:nvSpPr>
          <p:cNvPr id="31" name="Text 25"/>
          <p:cNvSpPr/>
          <p:nvPr/>
        </p:nvSpPr>
        <p:spPr>
          <a:xfrm>
            <a:off x="9381744" y="4818888"/>
            <a:ext cx="2267712" cy="512064"/>
          </a:xfrm>
          <a:prstGeom prst="rect">
            <a:avLst/>
          </a:prstGeom>
          <a:noFill/>
          <a:ln/>
        </p:spPr>
        <p:txBody>
          <a:bodyPr wrap="square" lIns="0" tIns="0" rIns="0" bIns="0" rtlCol="0" anchor="ctr"/>
          <a:lstStyle/>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근거·플래그로</a:t>
            </a:r>
            <a:endParaRPr lang="en-US" sz="1100" dirty="0"/>
          </a:p>
          <a:p>
            <a:pPr algn="ctr" indent="0" marL="0">
              <a:lnSpc>
                <a:spcPct val="110000"/>
              </a:lnSpc>
              <a:buNone/>
            </a:pPr>
            <a:r>
              <a:rPr lang="en-US" sz="1100" dirty="0">
                <a:solidFill>
                  <a:srgbClr val="64748B"/>
                </a:solidFill>
                <a:latin typeface="Pretendard" pitchFamily="34" charset="0"/>
                <a:ea typeface="Pretendard" pitchFamily="34" charset="-122"/>
                <a:cs typeface="Pretendard" pitchFamily="34" charset="-120"/>
              </a:rPr>
              <a:t>공정하게 평가</a:t>
            </a:r>
            <a:endParaRPr lang="en-US" sz="1100" dirty="0"/>
          </a:p>
        </p:txBody>
      </p:sp>
      <p:sp>
        <p:nvSpPr>
          <p:cNvPr id="32" name="Shape 26"/>
          <p:cNvSpPr/>
          <p:nvPr/>
        </p:nvSpPr>
        <p:spPr>
          <a:xfrm>
            <a:off x="566928" y="5650992"/>
            <a:ext cx="11064240" cy="566928"/>
          </a:xfrm>
          <a:prstGeom prst="roundRect">
            <a:avLst>
              <a:gd name="adj" fmla="val 16129"/>
            </a:avLst>
          </a:prstGeom>
          <a:solidFill>
            <a:srgbClr val="4F46E5"/>
          </a:solidFill>
          <a:ln/>
        </p:spPr>
      </p:sp>
      <p:sp>
        <p:nvSpPr>
          <p:cNvPr id="33" name="Text 27"/>
          <p:cNvSpPr/>
          <p:nvPr/>
        </p:nvSpPr>
        <p:spPr>
          <a:xfrm>
            <a:off x="566928" y="5650992"/>
            <a:ext cx="110642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말이 아닌 '데이터'로 기여를 증명합니다 — 정리된 근거가 교수님 대시보드에 그대로 표시됩니다</a:t>
            </a:r>
            <a:endParaRPr lang="en-US" sz="1400" dirty="0"/>
          </a:p>
        </p:txBody>
      </p:sp>
      <p:sp>
        <p:nvSpPr>
          <p:cNvPr id="34" name="Text 28"/>
          <p:cNvSpPr/>
          <p:nvPr/>
        </p:nvSpPr>
        <p:spPr>
          <a:xfrm>
            <a:off x="548640" y="6528816"/>
            <a:ext cx="7315200" cy="256032"/>
          </a:xfrm>
          <a:prstGeom prst="rect">
            <a:avLst/>
          </a:prstGeom>
          <a:noFill/>
          <a:ln/>
        </p:spPr>
        <p:txBody>
          <a:bodyPr wrap="square" lIns="0" tIns="0" rIns="0" bIns="0" rtlCol="0" anchor="ctr"/>
          <a:lstStyle/>
          <a:p>
            <a:pPr indent="0" marL="0">
              <a:buNone/>
            </a:pPr>
            <a:r>
              <a:rPr lang="en-US" sz="900" dirty="0">
                <a:solidFill>
                  <a:srgbClr val="94A3B8"/>
                </a:solidFill>
                <a:latin typeface="Pretendard" pitchFamily="34" charset="0"/>
                <a:ea typeface="Pretendard" pitchFamily="34" charset="-122"/>
                <a:cs typeface="Pretendard" pitchFamily="34" charset="-120"/>
              </a:rPr>
              <a:t>N분의1  ·  팀 프로젝트 기여도 증명·관리 플랫폼</a:t>
            </a:r>
            <a:endParaRPr lang="en-US" sz="900" dirty="0"/>
          </a:p>
        </p:txBody>
      </p:sp>
      <p:sp>
        <p:nvSpPr>
          <p:cNvPr id="35" name="Text 29"/>
          <p:cNvSpPr/>
          <p:nvPr/>
        </p:nvSpPr>
        <p:spPr>
          <a:xfrm>
            <a:off x="9966960" y="6528816"/>
            <a:ext cx="1673352" cy="256032"/>
          </a:xfrm>
          <a:prstGeom prst="rect">
            <a:avLst/>
          </a:prstGeom>
          <a:noFill/>
          <a:ln/>
        </p:spPr>
        <p:txBody>
          <a:bodyPr wrap="square" lIns="0" tIns="0" rIns="0" bIns="0" rtlCol="0" anchor="ctr"/>
          <a:lstStyle/>
          <a:p>
            <a:pPr algn="r" indent="0" marL="0">
              <a:buNone/>
            </a:pPr>
            <a:r>
              <a:rPr lang="en-US" sz="900" dirty="0">
                <a:solidFill>
                  <a:srgbClr val="94A3B8"/>
                </a:solidFill>
                <a:latin typeface="Pretendard" pitchFamily="34" charset="0"/>
                <a:ea typeface="Pretendard" pitchFamily="34" charset="-122"/>
                <a:cs typeface="Pretendard" pitchFamily="34" charset="-120"/>
              </a:rPr>
              <a:t>03  /  05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3566160" y="548640"/>
            <a:ext cx="9144000" cy="310896"/>
          </a:xfrm>
          <a:prstGeom prst="rect">
            <a:avLst/>
          </a:prstGeom>
          <a:noFill/>
          <a:ln/>
        </p:spPr>
        <p:txBody>
          <a:bodyPr wrap="square" lIns="0" tIns="0" rIns="0" bIns="0" rtlCol="0" anchor="ctr"/>
          <a:lstStyle/>
          <a:p>
            <a:pPr indent="0" marL="0">
              <a:buNone/>
            </a:pPr>
            <a:r>
              <a:rPr lang="en-US" sz="1100" b="1" dirty="0">
                <a:solidFill>
                  <a:srgbClr val="4F46E5"/>
                </a:solidFill>
                <a:latin typeface="Pretendard" pitchFamily="34" charset="0"/>
                <a:ea typeface="Pretendard" pitchFamily="34" charset="-122"/>
                <a:cs typeface="Pretendard" pitchFamily="34" charset="-120"/>
              </a:rPr>
              <a:t>●  </a:t>
            </a:r>
            <a:pPr indent="0" marL="0">
              <a:buNone/>
            </a:pPr>
            <a:r>
              <a:rPr lang="en-US" sz="1250" b="1" spc="100" kern="0" dirty="0">
                <a:solidFill>
                  <a:srgbClr val="4F46E5"/>
                </a:solidFill>
                <a:latin typeface="Pretendard" pitchFamily="34" charset="0"/>
                <a:ea typeface="Pretendard" pitchFamily="34" charset="-122"/>
                <a:cs typeface="Pretendard" pitchFamily="34" charset="-120"/>
              </a:rPr>
              <a:t>KEY FEATURES · 주요 기능</a:t>
            </a:r>
            <a:endParaRPr lang="en-US" sz="1100" dirty="0"/>
          </a:p>
        </p:txBody>
      </p:sp>
      <p:sp>
        <p:nvSpPr>
          <p:cNvPr id="3" name="Text 1"/>
          <p:cNvSpPr/>
          <p:nvPr/>
        </p:nvSpPr>
        <p:spPr>
          <a:xfrm>
            <a:off x="3566160" y="896112"/>
            <a:ext cx="8001000" cy="1371600"/>
          </a:xfrm>
          <a:prstGeom prst="rect">
            <a:avLst/>
          </a:prstGeom>
          <a:noFill/>
          <a:ln/>
        </p:spPr>
        <p:txBody>
          <a:bodyPr wrap="square" lIns="0" tIns="0" rIns="0" bIns="0" rtlCol="0" anchor="t"/>
          <a:lstStyle/>
          <a:p>
            <a:pPr algn="l" indent="0" marL="0">
              <a:lnSpc>
                <a:spcPct val="103000"/>
              </a:lnSpc>
              <a:buNone/>
            </a:pPr>
            <a:r>
              <a:rPr lang="en-US" sz="3000" b="1" spc="-30" kern="0" dirty="0">
                <a:solidFill>
                  <a:srgbClr val="1E293B"/>
                </a:solidFill>
                <a:latin typeface="Pretendard" pitchFamily="34" charset="0"/>
                <a:ea typeface="Pretendard" pitchFamily="34" charset="-122"/>
                <a:cs typeface="Pretendard" pitchFamily="34" charset="-120"/>
              </a:rPr>
              <a:t>무임승차는 앱이 </a:t>
            </a:r>
            <a:pPr algn="l" indent="0" marL="0">
              <a:lnSpc>
                <a:spcPct val="103000"/>
              </a:lnSpc>
              <a:buNone/>
            </a:pPr>
            <a:r>
              <a:rPr lang="en-US" sz="3000" b="1" spc="-30" kern="0" dirty="0">
                <a:solidFill>
                  <a:srgbClr val="DC2626"/>
                </a:solidFill>
                <a:latin typeface="Pretendard" pitchFamily="34" charset="0"/>
                <a:ea typeface="Pretendard" pitchFamily="34" charset="-122"/>
                <a:cs typeface="Pretendard" pitchFamily="34" charset="-120"/>
              </a:rPr>
              <a:t>먼저 찾아냅니다</a:t>
            </a:r>
            <a:endParaRPr lang="en-US" sz="3000" dirty="0"/>
          </a:p>
        </p:txBody>
      </p:sp>
      <p:sp>
        <p:nvSpPr>
          <p:cNvPr id="4" name="Text 2"/>
          <p:cNvSpPr/>
          <p:nvPr/>
        </p:nvSpPr>
        <p:spPr>
          <a:xfrm>
            <a:off x="3566160" y="1536192"/>
            <a:ext cx="8001000" cy="365760"/>
          </a:xfrm>
          <a:prstGeom prst="rect">
            <a:avLst/>
          </a:prstGeom>
          <a:noFill/>
          <a:ln/>
        </p:spPr>
        <p:txBody>
          <a:bodyPr wrap="square" lIns="0" tIns="0" rIns="0" bIns="0" rtlCol="0" anchor="ctr"/>
          <a:lstStyle/>
          <a:p>
            <a:pPr indent="0" marL="0">
              <a:buNone/>
            </a:pPr>
            <a:r>
              <a:rPr lang="en-US" sz="1400" dirty="0">
                <a:solidFill>
                  <a:srgbClr val="64748B"/>
                </a:solidFill>
                <a:latin typeface="Pretendard" pitchFamily="34" charset="0"/>
                <a:ea typeface="Pretendard" pitchFamily="34" charset="-122"/>
                <a:cs typeface="Pretendard" pitchFamily="34" charset="-120"/>
              </a:rPr>
              <a:t>기록과 평가를 교차검증해 자동으로 잡아냅니다</a:t>
            </a:r>
            <a:endParaRPr lang="en-US" sz="1400" dirty="0"/>
          </a:p>
        </p:txBody>
      </p:sp>
      <p:sp>
        <p:nvSpPr>
          <p:cNvPr id="5" name="Shape 3"/>
          <p:cNvSpPr/>
          <p:nvPr/>
        </p:nvSpPr>
        <p:spPr>
          <a:xfrm>
            <a:off x="3566160" y="2084832"/>
            <a:ext cx="8001000" cy="859536"/>
          </a:xfrm>
          <a:prstGeom prst="roundRect">
            <a:avLst>
              <a:gd name="adj" fmla="val 10638"/>
            </a:avLst>
          </a:prstGeom>
          <a:solidFill>
            <a:srgbClr val="FFFFFF"/>
          </a:solidFill>
          <a:ln/>
          <a:effectLst>
            <a:outerShdw sx="100000" sy="100000" kx="0" ky="0" algn="bl" rotWithShape="0" blurRad="101600" dist="25400" dir="5400000">
              <a:srgbClr val="000000">
                <a:alpha val="10000"/>
              </a:srgbClr>
            </a:outerShdw>
          </a:effectLst>
        </p:spPr>
      </p:sp>
      <p:sp>
        <p:nvSpPr>
          <p:cNvPr id="6" name="Shape 4"/>
          <p:cNvSpPr/>
          <p:nvPr/>
        </p:nvSpPr>
        <p:spPr>
          <a:xfrm>
            <a:off x="3785616" y="2249424"/>
            <a:ext cx="530352" cy="530352"/>
          </a:xfrm>
          <a:prstGeom prst="ellipse">
            <a:avLst/>
          </a:prstGeom>
          <a:solidFill>
            <a:srgbClr val="FEE2E2"/>
          </a:solidFill>
          <a:ln/>
        </p:spPr>
      </p:sp>
      <p:pic>
        <p:nvPicPr>
          <p:cNvPr id="7" name="Image 0" descr="preencoded.png">    </p:cNvPr>
          <p:cNvPicPr>
            <a:picLocks noChangeAspect="1"/>
          </p:cNvPicPr>
          <p:nvPr/>
        </p:nvPicPr>
        <p:blipFill>
          <a:blip r:embed="rId1"/>
          <a:stretch>
            <a:fillRect/>
          </a:stretch>
        </p:blipFill>
        <p:spPr>
          <a:xfrm>
            <a:off x="3918204" y="2382012"/>
            <a:ext cx="265176" cy="265176"/>
          </a:xfrm>
          <a:prstGeom prst="rect">
            <a:avLst/>
          </a:prstGeom>
        </p:spPr>
      </p:pic>
      <p:sp>
        <p:nvSpPr>
          <p:cNvPr id="8" name="Text 5"/>
          <p:cNvSpPr/>
          <p:nvPr/>
        </p:nvSpPr>
        <p:spPr>
          <a:xfrm>
            <a:off x="4553712" y="2203704"/>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교차검증 플래그</a:t>
            </a:r>
            <a:pPr indent="0" marL="0">
              <a:buNone/>
            </a:pPr>
            <a:r>
              <a:rPr lang="en-US" sz="1100" b="1" dirty="0">
                <a:solidFill>
                  <a:srgbClr val="DC2626"/>
                </a:solidFill>
                <a:latin typeface="Pretendard" pitchFamily="34" charset="0"/>
                <a:ea typeface="Pretendard" pitchFamily="34" charset="-122"/>
                <a:cs typeface="Pretendard" pitchFamily="34" charset="-120"/>
              </a:rPr>
              <a:t>   핵심 기능</a:t>
            </a:r>
            <a:endParaRPr lang="en-US" sz="1550" dirty="0"/>
          </a:p>
        </p:txBody>
      </p:sp>
      <p:sp>
        <p:nvSpPr>
          <p:cNvPr id="9" name="Text 6"/>
          <p:cNvSpPr/>
          <p:nvPr/>
        </p:nvSpPr>
        <p:spPr>
          <a:xfrm>
            <a:off x="4553712" y="2450592"/>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기록·평가가 어긋나면 무임승차·불일치 자동 감지</a:t>
            </a:r>
            <a:endParaRPr lang="en-US" sz="1200" dirty="0"/>
          </a:p>
        </p:txBody>
      </p:sp>
      <p:sp>
        <p:nvSpPr>
          <p:cNvPr id="10" name="Shape 7"/>
          <p:cNvSpPr/>
          <p:nvPr/>
        </p:nvSpPr>
        <p:spPr>
          <a:xfrm>
            <a:off x="3566160" y="3090672"/>
            <a:ext cx="8001000" cy="859536"/>
          </a:xfrm>
          <a:prstGeom prst="roundRect">
            <a:avLst>
              <a:gd name="adj" fmla="val 10638"/>
            </a:avLst>
          </a:prstGeom>
          <a:solidFill>
            <a:srgbClr val="FFFFFF"/>
          </a:solidFill>
          <a:ln/>
          <a:effectLst>
            <a:outerShdw sx="100000" sy="100000" kx="0" ky="0" algn="bl" rotWithShape="0" blurRad="101600" dist="25400" dir="5400000">
              <a:srgbClr val="000000">
                <a:alpha val="10000"/>
              </a:srgbClr>
            </a:outerShdw>
          </a:effectLst>
        </p:spPr>
      </p:sp>
      <p:sp>
        <p:nvSpPr>
          <p:cNvPr id="11" name="Shape 8"/>
          <p:cNvSpPr/>
          <p:nvPr/>
        </p:nvSpPr>
        <p:spPr>
          <a:xfrm>
            <a:off x="3785616" y="3255264"/>
            <a:ext cx="530352" cy="530352"/>
          </a:xfrm>
          <a:prstGeom prst="ellipse">
            <a:avLst/>
          </a:prstGeom>
          <a:solidFill>
            <a:srgbClr val="EEF0FF"/>
          </a:solidFill>
          <a:ln/>
        </p:spPr>
      </p:sp>
      <p:pic>
        <p:nvPicPr>
          <p:cNvPr id="12" name="Image 1" descr="preencoded.png">    </p:cNvPr>
          <p:cNvPicPr>
            <a:picLocks noChangeAspect="1"/>
          </p:cNvPicPr>
          <p:nvPr/>
        </p:nvPicPr>
        <p:blipFill>
          <a:blip r:embed="rId2"/>
          <a:stretch>
            <a:fillRect/>
          </a:stretch>
        </p:blipFill>
        <p:spPr>
          <a:xfrm>
            <a:off x="3918204" y="3387852"/>
            <a:ext cx="265176" cy="265176"/>
          </a:xfrm>
          <a:prstGeom prst="rect">
            <a:avLst/>
          </a:prstGeom>
        </p:spPr>
      </p:pic>
      <p:sp>
        <p:nvSpPr>
          <p:cNvPr id="13" name="Text 9"/>
          <p:cNvSpPr/>
          <p:nvPr/>
        </p:nvSpPr>
        <p:spPr>
          <a:xfrm>
            <a:off x="4553712" y="3209544"/>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기여도 대시보드</a:t>
            </a:r>
            <a:endParaRPr lang="en-US" sz="1550" dirty="0"/>
          </a:p>
        </p:txBody>
      </p:sp>
      <p:sp>
        <p:nvSpPr>
          <p:cNvPr id="14" name="Text 10"/>
          <p:cNvSpPr/>
          <p:nvPr/>
        </p:nvSpPr>
        <p:spPr>
          <a:xfrm>
            <a:off x="4553712" y="3456432"/>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팀·개인별 기여를 차트로 한눈에</a:t>
            </a:r>
            <a:endParaRPr lang="en-US" sz="1200" dirty="0"/>
          </a:p>
        </p:txBody>
      </p:sp>
      <p:sp>
        <p:nvSpPr>
          <p:cNvPr id="15" name="Shape 11"/>
          <p:cNvSpPr/>
          <p:nvPr/>
        </p:nvSpPr>
        <p:spPr>
          <a:xfrm>
            <a:off x="3566160" y="4096512"/>
            <a:ext cx="8001000" cy="859536"/>
          </a:xfrm>
          <a:prstGeom prst="roundRect">
            <a:avLst>
              <a:gd name="adj" fmla="val 10638"/>
            </a:avLst>
          </a:prstGeom>
          <a:solidFill>
            <a:srgbClr val="FFFFFF"/>
          </a:solidFill>
          <a:ln/>
          <a:effectLst>
            <a:outerShdw sx="100000" sy="100000" kx="0" ky="0" algn="bl" rotWithShape="0" blurRad="101600" dist="25400" dir="5400000">
              <a:srgbClr val="000000">
                <a:alpha val="10000"/>
              </a:srgbClr>
            </a:outerShdw>
          </a:effectLst>
        </p:spPr>
      </p:sp>
      <p:sp>
        <p:nvSpPr>
          <p:cNvPr id="16" name="Shape 12"/>
          <p:cNvSpPr/>
          <p:nvPr/>
        </p:nvSpPr>
        <p:spPr>
          <a:xfrm>
            <a:off x="3785616" y="4261104"/>
            <a:ext cx="530352" cy="530352"/>
          </a:xfrm>
          <a:prstGeom prst="ellipse">
            <a:avLst/>
          </a:prstGeom>
          <a:solidFill>
            <a:srgbClr val="EEF0FF"/>
          </a:solidFill>
          <a:ln/>
        </p:spPr>
      </p:sp>
      <p:pic>
        <p:nvPicPr>
          <p:cNvPr id="17" name="Image 2" descr="preencoded.png">    </p:cNvPr>
          <p:cNvPicPr>
            <a:picLocks noChangeAspect="1"/>
          </p:cNvPicPr>
          <p:nvPr/>
        </p:nvPicPr>
        <p:blipFill>
          <a:blip r:embed="rId3"/>
          <a:stretch>
            <a:fillRect/>
          </a:stretch>
        </p:blipFill>
        <p:spPr>
          <a:xfrm>
            <a:off x="3918204" y="4393692"/>
            <a:ext cx="265176" cy="265176"/>
          </a:xfrm>
          <a:prstGeom prst="rect">
            <a:avLst/>
          </a:prstGeom>
        </p:spPr>
      </p:pic>
      <p:sp>
        <p:nvSpPr>
          <p:cNvPr id="18" name="Text 13"/>
          <p:cNvSpPr/>
          <p:nvPr/>
        </p:nvSpPr>
        <p:spPr>
          <a:xfrm>
            <a:off x="4553712" y="4215384"/>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AI 기여도 리포트</a:t>
            </a:r>
            <a:endParaRPr lang="en-US" sz="1550" dirty="0"/>
          </a:p>
        </p:txBody>
      </p:sp>
      <p:sp>
        <p:nvSpPr>
          <p:cNvPr id="19" name="Text 14"/>
          <p:cNvSpPr/>
          <p:nvPr/>
        </p:nvSpPr>
        <p:spPr>
          <a:xfrm>
            <a:off x="4553712" y="4462272"/>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기록+평가를 종합해 성적 근거 문서 자동 생성</a:t>
            </a:r>
            <a:endParaRPr lang="en-US" sz="1200" dirty="0"/>
          </a:p>
        </p:txBody>
      </p:sp>
      <p:sp>
        <p:nvSpPr>
          <p:cNvPr id="20" name="Shape 15"/>
          <p:cNvSpPr/>
          <p:nvPr/>
        </p:nvSpPr>
        <p:spPr>
          <a:xfrm>
            <a:off x="3566160" y="5102352"/>
            <a:ext cx="8001000" cy="859536"/>
          </a:xfrm>
          <a:prstGeom prst="roundRect">
            <a:avLst>
              <a:gd name="adj" fmla="val 10638"/>
            </a:avLst>
          </a:prstGeom>
          <a:solidFill>
            <a:srgbClr val="FFFFFF"/>
          </a:solidFill>
          <a:ln/>
          <a:effectLst>
            <a:outerShdw sx="100000" sy="100000" kx="0" ky="0" algn="bl" rotWithShape="0" blurRad="101600" dist="25400" dir="5400000">
              <a:srgbClr val="000000">
                <a:alpha val="10000"/>
              </a:srgbClr>
            </a:outerShdw>
          </a:effectLst>
        </p:spPr>
      </p:sp>
      <p:sp>
        <p:nvSpPr>
          <p:cNvPr id="21" name="Shape 16"/>
          <p:cNvSpPr/>
          <p:nvPr/>
        </p:nvSpPr>
        <p:spPr>
          <a:xfrm>
            <a:off x="3785616" y="5266944"/>
            <a:ext cx="530352" cy="530352"/>
          </a:xfrm>
          <a:prstGeom prst="ellipse">
            <a:avLst/>
          </a:prstGeom>
          <a:solidFill>
            <a:srgbClr val="D1FAE5"/>
          </a:solidFill>
          <a:ln/>
        </p:spPr>
      </p:sp>
      <p:pic>
        <p:nvPicPr>
          <p:cNvPr id="22" name="Image 3" descr="preencoded.png">    </p:cNvPr>
          <p:cNvPicPr>
            <a:picLocks noChangeAspect="1"/>
          </p:cNvPicPr>
          <p:nvPr/>
        </p:nvPicPr>
        <p:blipFill>
          <a:blip r:embed="rId4"/>
          <a:stretch>
            <a:fillRect/>
          </a:stretch>
        </p:blipFill>
        <p:spPr>
          <a:xfrm>
            <a:off x="3918204" y="5399532"/>
            <a:ext cx="265176" cy="265176"/>
          </a:xfrm>
          <a:prstGeom prst="rect">
            <a:avLst/>
          </a:prstGeom>
        </p:spPr>
      </p:pic>
      <p:sp>
        <p:nvSpPr>
          <p:cNvPr id="23" name="Text 17"/>
          <p:cNvSpPr/>
          <p:nvPr/>
        </p:nvSpPr>
        <p:spPr>
          <a:xfrm>
            <a:off x="4553712" y="5221224"/>
            <a:ext cx="6739128" cy="402336"/>
          </a:xfrm>
          <a:prstGeom prst="rect">
            <a:avLst/>
          </a:prstGeom>
          <a:noFill/>
          <a:ln/>
        </p:spPr>
        <p:txBody>
          <a:bodyPr wrap="square" lIns="0" tIns="0" rIns="0" bIns="0" rtlCol="0" anchor="ctr"/>
          <a:lstStyle/>
          <a:p>
            <a:pPr indent="0" marL="0">
              <a:buNone/>
            </a:pPr>
            <a:r>
              <a:rPr lang="en-US" sz="1550" b="1" dirty="0">
                <a:solidFill>
                  <a:srgbClr val="1E293B"/>
                </a:solidFill>
                <a:latin typeface="Pretendard" pitchFamily="34" charset="0"/>
                <a:ea typeface="Pretendard" pitchFamily="34" charset="-122"/>
                <a:cs typeface="Pretendard" pitchFamily="34" charset="-120"/>
              </a:rPr>
              <a:t>활동 기록 · 미니 LMS</a:t>
            </a:r>
            <a:endParaRPr lang="en-US" sz="1550" dirty="0"/>
          </a:p>
        </p:txBody>
      </p:sp>
      <p:sp>
        <p:nvSpPr>
          <p:cNvPr id="24" name="Text 18"/>
          <p:cNvSpPr/>
          <p:nvPr/>
        </p:nvSpPr>
        <p:spPr>
          <a:xfrm>
            <a:off x="4553712" y="5468112"/>
            <a:ext cx="6739128" cy="365760"/>
          </a:xfrm>
          <a:prstGeom prst="rect">
            <a:avLst/>
          </a:prstGeom>
          <a:noFill/>
          <a:ln/>
        </p:spPr>
        <p:txBody>
          <a:bodyPr wrap="square" lIns="0" tIns="0" rIns="0" bIns="0" rtlCol="0" anchor="ctr"/>
          <a:lstStyle/>
          <a:p>
            <a:pPr indent="0" marL="0">
              <a:buNone/>
            </a:pPr>
            <a:r>
              <a:rPr lang="en-US" sz="1200" dirty="0">
                <a:solidFill>
                  <a:srgbClr val="64748B"/>
                </a:solidFill>
                <a:latin typeface="Pretendard" pitchFamily="34" charset="0"/>
                <a:ea typeface="Pretendard" pitchFamily="34" charset="-122"/>
                <a:cs typeface="Pretendard" pitchFamily="34" charset="-120"/>
              </a:rPr>
              <a:t>잔디·스트릭 + 과목·마일스톤·제출 관리</a:t>
            </a:r>
            <a:endParaRPr lang="en-US" sz="1200" dirty="0"/>
          </a:p>
        </p:txBody>
      </p:sp>
      <p:sp>
        <p:nvSpPr>
          <p:cNvPr id="25" name="Text 19"/>
          <p:cNvSpPr/>
          <p:nvPr/>
        </p:nvSpPr>
        <p:spPr>
          <a:xfrm>
            <a:off x="3584448" y="6153912"/>
            <a:ext cx="8001000" cy="365760"/>
          </a:xfrm>
          <a:prstGeom prst="rect">
            <a:avLst/>
          </a:prstGeom>
          <a:noFill/>
          <a:ln/>
        </p:spPr>
        <p:txBody>
          <a:bodyPr wrap="square" lIns="0" tIns="0" rIns="0" bIns="0" rtlCol="0" anchor="ctr"/>
          <a:lstStyle/>
          <a:p>
            <a:pPr indent="0" marL="0">
              <a:buNone/>
            </a:pPr>
            <a:r>
              <a:rPr lang="en-US" sz="1200" b="1" dirty="0">
                <a:solidFill>
                  <a:srgbClr val="64748B"/>
                </a:solidFill>
                <a:latin typeface="Pretendard" pitchFamily="34" charset="0"/>
                <a:ea typeface="Pretendard" pitchFamily="34" charset="-122"/>
                <a:cs typeface="Pretendard" pitchFamily="34" charset="-120"/>
              </a:rPr>
              <a:t>Built with   </a:t>
            </a:r>
            <a:pPr indent="0" marL="0">
              <a:buNone/>
            </a:pPr>
            <a:r>
              <a:rPr lang="en-US" sz="1200" b="1" dirty="0">
                <a:solidFill>
                  <a:srgbClr val="1E293B"/>
                </a:solidFill>
                <a:latin typeface="Pretendard" pitchFamily="34" charset="0"/>
                <a:ea typeface="Pretendard" pitchFamily="34" charset="-122"/>
                <a:cs typeface="Pretendard" pitchFamily="34" charset="-120"/>
              </a:rPr>
              <a:t>Kotlin · Jetpack Compose · Claude AI · 온디바이스 저장</a:t>
            </a:r>
            <a:endParaRPr lang="en-US" sz="1200" dirty="0"/>
          </a:p>
        </p:txBody>
      </p:sp>
      <p:sp>
        <p:nvSpPr>
          <p:cNvPr id="26" name="Shape 20"/>
          <p:cNvSpPr/>
          <p:nvPr/>
        </p:nvSpPr>
        <p:spPr>
          <a:xfrm>
            <a:off x="566928" y="502920"/>
            <a:ext cx="2715672" cy="5806440"/>
          </a:xfrm>
          <a:prstGeom prst="roundRect">
            <a:avLst>
              <a:gd name="adj" fmla="val 12795"/>
            </a:avLst>
          </a:prstGeom>
          <a:solidFill>
            <a:srgbClr val="0B0B11"/>
          </a:solidFill>
          <a:ln/>
          <a:effectLst>
            <a:outerShdw sx="100000" sy="100000" kx="0" ky="0" algn="bl" rotWithShape="0" blurRad="165100" dist="63500" dir="5400000">
              <a:srgbClr val="000000">
                <a:alpha val="28000"/>
              </a:srgbClr>
            </a:outerShdw>
          </a:effectLst>
        </p:spPr>
      </p:sp>
      <p:pic>
        <p:nvPicPr>
          <p:cNvPr id="27" name="Image 4" descr="C:/Users/HP15~1/AppData/Local/Temp/claude/C--Users-HP-15-Desktop-Hackathon/e11a162a-fd90-4cff-922b-c82073c29db3/scratchpad/deck/assets/dev_teamflags.png">    </p:cNvPr>
          <p:cNvPicPr>
            <a:picLocks noChangeAspect="1"/>
          </p:cNvPicPr>
          <p:nvPr/>
        </p:nvPicPr>
        <p:blipFill>
          <a:blip r:embed="rId5"/>
          <a:stretch>
            <a:fillRect/>
          </a:stretch>
        </p:blipFill>
        <p:spPr>
          <a:xfrm>
            <a:off x="566928" y="502920"/>
            <a:ext cx="2715672" cy="5806440"/>
          </a:xfrm>
          <a:prstGeom prst="rect">
            <a:avLst/>
          </a:prstGeom>
        </p:spPr>
      </p:pic>
      <p:sp>
        <p:nvSpPr>
          <p:cNvPr id="28" name="Text 21"/>
          <p:cNvSpPr/>
          <p:nvPr/>
        </p:nvSpPr>
        <p:spPr>
          <a:xfrm>
            <a:off x="548640" y="6528816"/>
            <a:ext cx="7315200" cy="256032"/>
          </a:xfrm>
          <a:prstGeom prst="rect">
            <a:avLst/>
          </a:prstGeom>
          <a:noFill/>
          <a:ln/>
        </p:spPr>
        <p:txBody>
          <a:bodyPr wrap="square" lIns="0" tIns="0" rIns="0" bIns="0" rtlCol="0" anchor="ctr"/>
          <a:lstStyle/>
          <a:p>
            <a:pPr indent="0" marL="0">
              <a:buNone/>
            </a:pPr>
            <a:r>
              <a:rPr lang="en-US" sz="900" dirty="0">
                <a:solidFill>
                  <a:srgbClr val="94A3B8"/>
                </a:solidFill>
                <a:latin typeface="Pretendard" pitchFamily="34" charset="0"/>
                <a:ea typeface="Pretendard" pitchFamily="34" charset="-122"/>
                <a:cs typeface="Pretendard" pitchFamily="34" charset="-120"/>
              </a:rPr>
              <a:t>N분의1  ·  팀 프로젝트 기여도 증명·관리 플랫폼</a:t>
            </a:r>
            <a:endParaRPr lang="en-US" sz="900" dirty="0"/>
          </a:p>
        </p:txBody>
      </p:sp>
      <p:sp>
        <p:nvSpPr>
          <p:cNvPr id="29" name="Text 22"/>
          <p:cNvSpPr/>
          <p:nvPr/>
        </p:nvSpPr>
        <p:spPr>
          <a:xfrm>
            <a:off x="9966960" y="6528816"/>
            <a:ext cx="1673352" cy="256032"/>
          </a:xfrm>
          <a:prstGeom prst="rect">
            <a:avLst/>
          </a:prstGeom>
          <a:noFill/>
          <a:ln/>
        </p:spPr>
        <p:txBody>
          <a:bodyPr wrap="square" lIns="0" tIns="0" rIns="0" bIns="0" rtlCol="0" anchor="ctr"/>
          <a:lstStyle/>
          <a:p>
            <a:pPr algn="r" indent="0" marL="0">
              <a:buNone/>
            </a:pPr>
            <a:r>
              <a:rPr lang="en-US" sz="900" dirty="0">
                <a:solidFill>
                  <a:srgbClr val="94A3B8"/>
                </a:solidFill>
                <a:latin typeface="Pretendard" pitchFamily="34" charset="0"/>
                <a:ea typeface="Pretendard" pitchFamily="34" charset="-122"/>
                <a:cs typeface="Pretendard" pitchFamily="34" charset="-120"/>
              </a:rPr>
              <a:t>04  /  05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566160" y="585216"/>
            <a:ext cx="9144000" cy="310896"/>
          </a:xfrm>
          <a:prstGeom prst="rect">
            <a:avLst/>
          </a:prstGeom>
          <a:noFill/>
          <a:ln/>
        </p:spPr>
        <p:txBody>
          <a:bodyPr wrap="square" lIns="0" tIns="0" rIns="0" bIns="0" rtlCol="0" anchor="ctr"/>
          <a:lstStyle/>
          <a:p>
            <a:pPr indent="0" marL="0">
              <a:buNone/>
            </a:pPr>
            <a:r>
              <a:rPr lang="en-US" sz="1100" b="1" dirty="0">
                <a:solidFill>
                  <a:srgbClr val="C7D2FE"/>
                </a:solidFill>
                <a:latin typeface="Pretendard" pitchFamily="34" charset="0"/>
                <a:ea typeface="Pretendard" pitchFamily="34" charset="-122"/>
                <a:cs typeface="Pretendard" pitchFamily="34" charset="-120"/>
              </a:rPr>
              <a:t>●  </a:t>
            </a:r>
            <a:pPr indent="0" marL="0">
              <a:buNone/>
            </a:pPr>
            <a:r>
              <a:rPr lang="en-US" sz="1250" b="1" spc="100" kern="0" dirty="0">
                <a:solidFill>
                  <a:srgbClr val="C7D2FE"/>
                </a:solidFill>
                <a:latin typeface="Pretendard" pitchFamily="34" charset="0"/>
                <a:ea typeface="Pretendard" pitchFamily="34" charset="-122"/>
                <a:cs typeface="Pretendard" pitchFamily="34" charset="-120"/>
              </a:rPr>
              <a:t>IMPACT · 기대 효과</a:t>
            </a:r>
            <a:endParaRPr lang="en-US" sz="1100" dirty="0"/>
          </a:p>
        </p:txBody>
      </p:sp>
      <p:sp>
        <p:nvSpPr>
          <p:cNvPr id="3" name="Text 1"/>
          <p:cNvSpPr/>
          <p:nvPr/>
        </p:nvSpPr>
        <p:spPr>
          <a:xfrm>
            <a:off x="3566160" y="932688"/>
            <a:ext cx="8001000" cy="1371600"/>
          </a:xfrm>
          <a:prstGeom prst="rect">
            <a:avLst/>
          </a:prstGeom>
          <a:noFill/>
          <a:ln/>
        </p:spPr>
        <p:txBody>
          <a:bodyPr wrap="square" lIns="0" tIns="0" rIns="0" bIns="0" rtlCol="0" anchor="t"/>
          <a:lstStyle/>
          <a:p>
            <a:pPr algn="l" indent="0" marL="0">
              <a:lnSpc>
                <a:spcPct val="103000"/>
              </a:lnSpc>
              <a:buNone/>
            </a:pPr>
            <a:r>
              <a:rPr lang="en-US" sz="3200" b="1" spc="-30" kern="0" dirty="0">
                <a:solidFill>
                  <a:srgbClr val="FFFFFF"/>
                </a:solidFill>
                <a:latin typeface="Pretendard" pitchFamily="34" charset="0"/>
                <a:ea typeface="Pretendard" pitchFamily="34" charset="-122"/>
                <a:cs typeface="Pretendard" pitchFamily="34" charset="-120"/>
              </a:rPr>
              <a:t>감시가 아닌 증명으로,</a:t>
            </a:r>
            <a:endParaRPr lang="en-US" sz="3200" dirty="0"/>
          </a:p>
          <a:p>
            <a:pPr algn="l" indent="0" marL="0">
              <a:lnSpc>
                <a:spcPct val="103000"/>
              </a:lnSpc>
              <a:buNone/>
            </a:pPr>
            <a:r>
              <a:rPr lang="en-US" sz="3200" b="1" spc="-30" kern="0" dirty="0">
                <a:solidFill>
                  <a:srgbClr val="FCD34D"/>
                </a:solidFill>
                <a:latin typeface="Pretendard" pitchFamily="34" charset="0"/>
                <a:ea typeface="Pretendard" pitchFamily="34" charset="-122"/>
                <a:cs typeface="Pretendard" pitchFamily="34" charset="-120"/>
              </a:rPr>
              <a:t>공정한 팀플</a:t>
            </a:r>
            <a:pPr algn="l" indent="0" marL="0">
              <a:lnSpc>
                <a:spcPct val="103000"/>
              </a:lnSpc>
              <a:buNone/>
            </a:pPr>
            <a:r>
              <a:rPr lang="en-US" sz="3200" b="1" spc="-30" kern="0" dirty="0">
                <a:solidFill>
                  <a:srgbClr val="FFFFFF"/>
                </a:solidFill>
                <a:latin typeface="Pretendard" pitchFamily="34" charset="0"/>
                <a:ea typeface="Pretendard" pitchFamily="34" charset="-122"/>
                <a:cs typeface="Pretendard" pitchFamily="34" charset="-120"/>
              </a:rPr>
              <a:t>의 시작</a:t>
            </a:r>
            <a:endParaRPr lang="en-US" sz="3200" dirty="0"/>
          </a:p>
        </p:txBody>
      </p:sp>
      <p:sp>
        <p:nvSpPr>
          <p:cNvPr id="4" name="Text 2"/>
          <p:cNvSpPr/>
          <p:nvPr/>
        </p:nvSpPr>
        <p:spPr>
          <a:xfrm>
            <a:off x="3566160" y="2286000"/>
            <a:ext cx="8001000" cy="365760"/>
          </a:xfrm>
          <a:prstGeom prst="rect">
            <a:avLst/>
          </a:prstGeom>
          <a:noFill/>
          <a:ln/>
        </p:spPr>
        <p:txBody>
          <a:bodyPr wrap="square" lIns="0" tIns="0" rIns="0" bIns="0" rtlCol="0" anchor="ctr"/>
          <a:lstStyle/>
          <a:p>
            <a:pPr indent="0" marL="0">
              <a:buNone/>
            </a:pPr>
            <a:r>
              <a:rPr lang="en-US" sz="1400" dirty="0">
                <a:solidFill>
                  <a:srgbClr val="C7D2FE"/>
                </a:solidFill>
                <a:latin typeface="Pretendard" pitchFamily="34" charset="0"/>
                <a:ea typeface="Pretendard" pitchFamily="34" charset="-122"/>
                <a:cs typeface="Pretendard" pitchFamily="34" charset="-120"/>
              </a:rPr>
              <a:t>모든 팀 프로젝트에 — 일반 팀플부터 졸업작품까지</a:t>
            </a:r>
            <a:endParaRPr lang="en-US" sz="1400" dirty="0"/>
          </a:p>
        </p:txBody>
      </p:sp>
      <p:sp>
        <p:nvSpPr>
          <p:cNvPr id="5" name="Shape 3"/>
          <p:cNvSpPr/>
          <p:nvPr/>
        </p:nvSpPr>
        <p:spPr>
          <a:xfrm>
            <a:off x="3566160" y="2743200"/>
            <a:ext cx="1371600" cy="512064"/>
          </a:xfrm>
          <a:prstGeom prst="roundRect">
            <a:avLst>
              <a:gd name="adj" fmla="val 50000"/>
            </a:avLst>
          </a:prstGeom>
          <a:solidFill>
            <a:srgbClr val="413C9A"/>
          </a:solidFill>
          <a:ln/>
        </p:spPr>
      </p:sp>
      <p:sp>
        <p:nvSpPr>
          <p:cNvPr id="6" name="Text 4"/>
          <p:cNvSpPr/>
          <p:nvPr/>
        </p:nvSpPr>
        <p:spPr>
          <a:xfrm>
            <a:off x="3566160" y="2743200"/>
            <a:ext cx="1371600"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일반 팀플</a:t>
            </a:r>
            <a:endParaRPr lang="en-US" sz="1300" dirty="0"/>
          </a:p>
        </p:txBody>
      </p:sp>
      <p:sp>
        <p:nvSpPr>
          <p:cNvPr id="7" name="Shape 5"/>
          <p:cNvSpPr/>
          <p:nvPr/>
        </p:nvSpPr>
        <p:spPr>
          <a:xfrm>
            <a:off x="5120640" y="2743200"/>
            <a:ext cx="2240280" cy="512064"/>
          </a:xfrm>
          <a:prstGeom prst="roundRect">
            <a:avLst>
              <a:gd name="adj" fmla="val 50000"/>
            </a:avLst>
          </a:prstGeom>
          <a:solidFill>
            <a:srgbClr val="413C9A"/>
          </a:solidFill>
          <a:ln/>
        </p:spPr>
      </p:sp>
      <p:sp>
        <p:nvSpPr>
          <p:cNvPr id="8" name="Text 6"/>
          <p:cNvSpPr/>
          <p:nvPr/>
        </p:nvSpPr>
        <p:spPr>
          <a:xfrm>
            <a:off x="5120640" y="2743200"/>
            <a:ext cx="2240280"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중간·기말 프로젝트</a:t>
            </a:r>
            <a:endParaRPr lang="en-US" sz="1300" dirty="0"/>
          </a:p>
        </p:txBody>
      </p:sp>
      <p:sp>
        <p:nvSpPr>
          <p:cNvPr id="9" name="Shape 7"/>
          <p:cNvSpPr/>
          <p:nvPr/>
        </p:nvSpPr>
        <p:spPr>
          <a:xfrm>
            <a:off x="7543800" y="2743200"/>
            <a:ext cx="2066544" cy="512064"/>
          </a:xfrm>
          <a:prstGeom prst="roundRect">
            <a:avLst>
              <a:gd name="adj" fmla="val 50000"/>
            </a:avLst>
          </a:prstGeom>
          <a:solidFill>
            <a:srgbClr val="413C9A"/>
          </a:solidFill>
          <a:ln/>
        </p:spPr>
      </p:sp>
      <p:sp>
        <p:nvSpPr>
          <p:cNvPr id="10" name="Text 8"/>
          <p:cNvSpPr/>
          <p:nvPr/>
        </p:nvSpPr>
        <p:spPr>
          <a:xfrm>
            <a:off x="7543800" y="2743200"/>
            <a:ext cx="206654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졸업작품(캡스톤)</a:t>
            </a:r>
            <a:endParaRPr lang="en-US" sz="1300" dirty="0"/>
          </a:p>
        </p:txBody>
      </p:sp>
      <p:sp>
        <p:nvSpPr>
          <p:cNvPr id="11" name="Shape 9"/>
          <p:cNvSpPr/>
          <p:nvPr/>
        </p:nvSpPr>
        <p:spPr>
          <a:xfrm>
            <a:off x="3566160" y="3566160"/>
            <a:ext cx="8001000" cy="877824"/>
          </a:xfrm>
          <a:prstGeom prst="roundRect">
            <a:avLst>
              <a:gd name="adj" fmla="val 10417"/>
            </a:avLst>
          </a:prstGeom>
          <a:solidFill>
            <a:srgbClr val="413C9A"/>
          </a:solidFill>
          <a:ln/>
        </p:spPr>
      </p:sp>
      <p:sp>
        <p:nvSpPr>
          <p:cNvPr id="12" name="Shape 10"/>
          <p:cNvSpPr/>
          <p:nvPr/>
        </p:nvSpPr>
        <p:spPr>
          <a:xfrm>
            <a:off x="3822192" y="3749040"/>
            <a:ext cx="512064" cy="512064"/>
          </a:xfrm>
          <a:prstGeom prst="ellipse">
            <a:avLst/>
          </a:prstGeom>
          <a:solidFill>
            <a:srgbClr val="5B54C9"/>
          </a:solidFill>
          <a:ln/>
        </p:spPr>
      </p:sp>
      <p:pic>
        <p:nvPicPr>
          <p:cNvPr id="13" name="Image 0" descr="preencoded.png">    </p:cNvPr>
          <p:cNvPicPr>
            <a:picLocks noChangeAspect="1"/>
          </p:cNvPicPr>
          <p:nvPr/>
        </p:nvPicPr>
        <p:blipFill>
          <a:blip r:embed="rId2"/>
          <a:stretch>
            <a:fillRect/>
          </a:stretch>
        </p:blipFill>
        <p:spPr>
          <a:xfrm>
            <a:off x="3950208" y="3877056"/>
            <a:ext cx="256032" cy="256032"/>
          </a:xfrm>
          <a:prstGeom prst="rect">
            <a:avLst/>
          </a:prstGeom>
        </p:spPr>
      </p:pic>
      <p:sp>
        <p:nvSpPr>
          <p:cNvPr id="14" name="Text 11"/>
          <p:cNvSpPr/>
          <p:nvPr/>
        </p:nvSpPr>
        <p:spPr>
          <a:xfrm>
            <a:off x="4553712" y="3566160"/>
            <a:ext cx="1371600" cy="877824"/>
          </a:xfrm>
          <a:prstGeom prst="rect">
            <a:avLst/>
          </a:prstGeom>
          <a:noFill/>
          <a:ln/>
        </p:spPr>
        <p:txBody>
          <a:bodyPr wrap="square" lIns="0" tIns="0" rIns="0" bIns="0" rtlCol="0" anchor="ctr"/>
          <a:lstStyle/>
          <a:p>
            <a:pPr indent="0" marL="0">
              <a:buNone/>
            </a:pPr>
            <a:r>
              <a:rPr lang="en-US" sz="1500" b="1" dirty="0">
                <a:solidFill>
                  <a:srgbClr val="C7D2FE"/>
                </a:solidFill>
                <a:latin typeface="Pretendard" pitchFamily="34" charset="0"/>
                <a:ea typeface="Pretendard" pitchFamily="34" charset="-122"/>
                <a:cs typeface="Pretendard" pitchFamily="34" charset="-120"/>
              </a:rPr>
              <a:t>학생</a:t>
            </a:r>
            <a:endParaRPr lang="en-US" sz="1500" dirty="0"/>
          </a:p>
        </p:txBody>
      </p:sp>
      <p:sp>
        <p:nvSpPr>
          <p:cNvPr id="15" name="Text 12"/>
          <p:cNvSpPr/>
          <p:nvPr/>
        </p:nvSpPr>
        <p:spPr>
          <a:xfrm>
            <a:off x="5852160" y="3566160"/>
            <a:ext cx="5486400" cy="877824"/>
          </a:xfrm>
          <a:prstGeom prst="rect">
            <a:avLst/>
          </a:prstGeom>
          <a:noFill/>
          <a:ln/>
        </p:spPr>
        <p:txBody>
          <a:bodyPr wrap="square" lIns="0" tIns="0" rIns="0" bIns="0" rtlCol="0" anchor="ctr"/>
          <a:lstStyle/>
          <a:p>
            <a:pPr indent="0" marL="0">
              <a:buNone/>
            </a:pPr>
            <a:r>
              <a:rPr lang="en-US" sz="1350" dirty="0">
                <a:solidFill>
                  <a:srgbClr val="FFFFFF"/>
                </a:solidFill>
                <a:latin typeface="Pretendard" pitchFamily="34" charset="0"/>
                <a:ea typeface="Pretendard" pitchFamily="34" charset="-122"/>
                <a:cs typeface="Pretendard" pitchFamily="34" charset="-120"/>
              </a:rPr>
              <a:t>노력한 만큼 인정받습니다</a:t>
            </a:r>
            <a:endParaRPr lang="en-US" sz="1350" dirty="0"/>
          </a:p>
        </p:txBody>
      </p:sp>
      <p:sp>
        <p:nvSpPr>
          <p:cNvPr id="16" name="Shape 13"/>
          <p:cNvSpPr/>
          <p:nvPr/>
        </p:nvSpPr>
        <p:spPr>
          <a:xfrm>
            <a:off x="3566160" y="4590288"/>
            <a:ext cx="8001000" cy="877824"/>
          </a:xfrm>
          <a:prstGeom prst="roundRect">
            <a:avLst>
              <a:gd name="adj" fmla="val 10417"/>
            </a:avLst>
          </a:prstGeom>
          <a:solidFill>
            <a:srgbClr val="413C9A"/>
          </a:solidFill>
          <a:ln/>
        </p:spPr>
      </p:sp>
      <p:sp>
        <p:nvSpPr>
          <p:cNvPr id="17" name="Shape 14"/>
          <p:cNvSpPr/>
          <p:nvPr/>
        </p:nvSpPr>
        <p:spPr>
          <a:xfrm>
            <a:off x="3822192" y="4773168"/>
            <a:ext cx="512064" cy="512064"/>
          </a:xfrm>
          <a:prstGeom prst="ellipse">
            <a:avLst/>
          </a:prstGeom>
          <a:solidFill>
            <a:srgbClr val="5B54C9"/>
          </a:solidFill>
          <a:ln/>
        </p:spPr>
      </p:sp>
      <p:pic>
        <p:nvPicPr>
          <p:cNvPr id="18" name="Image 1" descr="preencoded.png">    </p:cNvPr>
          <p:cNvPicPr>
            <a:picLocks noChangeAspect="1"/>
          </p:cNvPicPr>
          <p:nvPr/>
        </p:nvPicPr>
        <p:blipFill>
          <a:blip r:embed="rId3"/>
          <a:stretch>
            <a:fillRect/>
          </a:stretch>
        </p:blipFill>
        <p:spPr>
          <a:xfrm>
            <a:off x="3950208" y="4901184"/>
            <a:ext cx="256032" cy="256032"/>
          </a:xfrm>
          <a:prstGeom prst="rect">
            <a:avLst/>
          </a:prstGeom>
        </p:spPr>
      </p:pic>
      <p:sp>
        <p:nvSpPr>
          <p:cNvPr id="19" name="Text 15"/>
          <p:cNvSpPr/>
          <p:nvPr/>
        </p:nvSpPr>
        <p:spPr>
          <a:xfrm>
            <a:off x="4553712" y="4590288"/>
            <a:ext cx="1371600" cy="877824"/>
          </a:xfrm>
          <a:prstGeom prst="rect">
            <a:avLst/>
          </a:prstGeom>
          <a:noFill/>
          <a:ln/>
        </p:spPr>
        <p:txBody>
          <a:bodyPr wrap="square" lIns="0" tIns="0" rIns="0" bIns="0" rtlCol="0" anchor="ctr"/>
          <a:lstStyle/>
          <a:p>
            <a:pPr indent="0" marL="0">
              <a:buNone/>
            </a:pPr>
            <a:r>
              <a:rPr lang="en-US" sz="1500" b="1" dirty="0">
                <a:solidFill>
                  <a:srgbClr val="C7D2FE"/>
                </a:solidFill>
                <a:latin typeface="Pretendard" pitchFamily="34" charset="0"/>
                <a:ea typeface="Pretendard" pitchFamily="34" charset="-122"/>
                <a:cs typeface="Pretendard" pitchFamily="34" charset="-120"/>
              </a:rPr>
              <a:t>교수님</a:t>
            </a:r>
            <a:endParaRPr lang="en-US" sz="1500" dirty="0"/>
          </a:p>
        </p:txBody>
      </p:sp>
      <p:sp>
        <p:nvSpPr>
          <p:cNvPr id="20" name="Text 16"/>
          <p:cNvSpPr/>
          <p:nvPr/>
        </p:nvSpPr>
        <p:spPr>
          <a:xfrm>
            <a:off x="5852160" y="4590288"/>
            <a:ext cx="5486400" cy="877824"/>
          </a:xfrm>
          <a:prstGeom prst="rect">
            <a:avLst/>
          </a:prstGeom>
          <a:noFill/>
          <a:ln/>
        </p:spPr>
        <p:txBody>
          <a:bodyPr wrap="square" lIns="0" tIns="0" rIns="0" bIns="0" rtlCol="0" anchor="ctr"/>
          <a:lstStyle/>
          <a:p>
            <a:pPr indent="0" marL="0">
              <a:buNone/>
            </a:pPr>
            <a:r>
              <a:rPr lang="en-US" sz="1350" dirty="0">
                <a:solidFill>
                  <a:srgbClr val="FFFFFF"/>
                </a:solidFill>
                <a:latin typeface="Pretendard" pitchFamily="34" charset="0"/>
                <a:ea typeface="Pretendard" pitchFamily="34" charset="-122"/>
                <a:cs typeface="Pretendard" pitchFamily="34" charset="-120"/>
              </a:rPr>
              <a:t>이의제기에도 근거로 방어합니다</a:t>
            </a:r>
            <a:endParaRPr lang="en-US" sz="1350" dirty="0"/>
          </a:p>
        </p:txBody>
      </p:sp>
      <p:sp>
        <p:nvSpPr>
          <p:cNvPr id="21" name="Text 17"/>
          <p:cNvSpPr/>
          <p:nvPr/>
        </p:nvSpPr>
        <p:spPr>
          <a:xfrm>
            <a:off x="3566160" y="5760720"/>
            <a:ext cx="8001000" cy="457200"/>
          </a:xfrm>
          <a:prstGeom prst="rect">
            <a:avLst/>
          </a:prstGeom>
          <a:noFill/>
          <a:ln/>
        </p:spPr>
        <p:txBody>
          <a:bodyPr wrap="square" lIns="0" tIns="0" rIns="0" bIns="0" rtlCol="0" anchor="ctr"/>
          <a:lstStyle/>
          <a:p>
            <a:pPr indent="0" marL="0">
              <a:buNone/>
            </a:pPr>
            <a:r>
              <a:rPr lang="en-US" sz="1700" b="1" dirty="0">
                <a:solidFill>
                  <a:srgbClr val="FFFFFF"/>
                </a:solidFill>
                <a:latin typeface="Pretendard" pitchFamily="34" charset="0"/>
                <a:ea typeface="Pretendard" pitchFamily="34" charset="-122"/>
                <a:cs typeface="Pretendard" pitchFamily="34" charset="-120"/>
              </a:rPr>
              <a:t>감시가 아닌 증명 — N분의1  ·  감사합니다</a:t>
            </a:r>
            <a:endParaRPr lang="en-US" sz="1700" dirty="0"/>
          </a:p>
        </p:txBody>
      </p:sp>
      <p:pic>
        <p:nvPicPr>
          <p:cNvPr id="22" name="Image 2" descr="C:/Users/HP15~1/AppData/Local/Temp/claude/C--Users-HP-15-Desktop-Hackathon/e11a162a-fd90-4cff-922b-c82073c29db3/scratchpad/deck/assets/dev_prof.png">    </p:cNvPr>
          <p:cNvPicPr>
            <a:picLocks noChangeAspect="1"/>
          </p:cNvPicPr>
          <p:nvPr/>
        </p:nvPicPr>
        <p:blipFill>
          <a:blip r:embed="rId4"/>
          <a:stretch>
            <a:fillRect/>
          </a:stretch>
        </p:blipFill>
        <p:spPr>
          <a:xfrm>
            <a:off x="566928" y="502920"/>
            <a:ext cx="2715672" cy="5806440"/>
          </a:xfrm>
          <a:prstGeom prst="rect">
            <a:avLst/>
          </a:prstGeom>
        </p:spPr>
      </p:pic>
      <p:sp>
        <p:nvSpPr>
          <p:cNvPr id="23" name="Text 18"/>
          <p:cNvSpPr/>
          <p:nvPr/>
        </p:nvSpPr>
        <p:spPr>
          <a:xfrm>
            <a:off x="548640" y="6528816"/>
            <a:ext cx="7315200" cy="256032"/>
          </a:xfrm>
          <a:prstGeom prst="rect">
            <a:avLst/>
          </a:prstGeom>
          <a:noFill/>
          <a:ln/>
        </p:spPr>
        <p:txBody>
          <a:bodyPr wrap="square" lIns="0" tIns="0" rIns="0" bIns="0" rtlCol="0" anchor="ctr"/>
          <a:lstStyle/>
          <a:p>
            <a:pPr indent="0" marL="0">
              <a:buNone/>
            </a:pPr>
            <a:r>
              <a:rPr lang="en-US" sz="900" dirty="0">
                <a:solidFill>
                  <a:srgbClr val="A5B4FC"/>
                </a:solidFill>
                <a:latin typeface="Pretendard" pitchFamily="34" charset="0"/>
                <a:ea typeface="Pretendard" pitchFamily="34" charset="-122"/>
                <a:cs typeface="Pretendard" pitchFamily="34" charset="-120"/>
              </a:rPr>
              <a:t>N분의1  ·  팀 프로젝트 기여도 증명·관리 플랫폼</a:t>
            </a:r>
            <a:endParaRPr lang="en-US" sz="900" dirty="0"/>
          </a:p>
        </p:txBody>
      </p:sp>
      <p:sp>
        <p:nvSpPr>
          <p:cNvPr id="24" name="Text 19"/>
          <p:cNvSpPr/>
          <p:nvPr/>
        </p:nvSpPr>
        <p:spPr>
          <a:xfrm>
            <a:off x="9966960" y="6528816"/>
            <a:ext cx="1673352" cy="256032"/>
          </a:xfrm>
          <a:prstGeom prst="rect">
            <a:avLst/>
          </a:prstGeom>
          <a:noFill/>
          <a:ln/>
        </p:spPr>
        <p:txBody>
          <a:bodyPr wrap="square" lIns="0" tIns="0" rIns="0" bIns="0" rtlCol="0" anchor="ctr"/>
          <a:lstStyle/>
          <a:p>
            <a:pPr algn="r" indent="0" marL="0">
              <a:buNone/>
            </a:pPr>
            <a:r>
              <a:rPr lang="en-US" sz="900" dirty="0">
                <a:solidFill>
                  <a:srgbClr val="A5B4FC"/>
                </a:solidFill>
                <a:latin typeface="Pretendard" pitchFamily="34" charset="0"/>
                <a:ea typeface="Pretendard" pitchFamily="34" charset="-122"/>
                <a:cs typeface="Pretendard" pitchFamily="34" charset="-120"/>
              </a:rPr>
              <a:t>05  /  05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N분의1 — 팀 프로젝트 기여도 증명·관리 플랫폼</dc:title>
  <dc:subject>PptxGenJS Presentation</dc:subject>
  <dc:creator>N분의1</dc:creator>
  <cp:lastModifiedBy>N분의1</cp:lastModifiedBy>
  <cp:revision>1</cp:revision>
  <dcterms:created xsi:type="dcterms:W3CDTF">2026-07-05T10:50:21Z</dcterms:created>
  <dcterms:modified xsi:type="dcterms:W3CDTF">2026-07-05T10:50:21Z</dcterms:modified>
</cp:coreProperties>
</file>