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저희가 만든 N분의1은 팀 프로젝트의 기여도를 기록하고, 그 근거로 평가하는 안드로이드 앱입니다. 학생은 학기 내내 자신이 한 일을 남기고, 교수님은 결과물뿐 아니라 그 과정 데이터를 근거로 공정하게 평가하실 수 있습니다. 핵심은 '감시'가 아니라 학생 스스로의 '증명'이라는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 프로젝트 평가가 어려운 이유는 세 가지입니다. 첫째, 교수님은 최종 결과물만 보시게 되어 과정에서 누가 얼마나 기여했는지 확인하기 어렵습니다. 둘째, 유일한 장치인 학기말 동료평가는 주관적이고 근거로 남지 않습니다. 셋째, 결국 참여도와 무관하게 같은 학점이 부여됩니다. 저희 앱에는 이런 현장의 목소리를 모으는 설문 기능도 포함되어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작동 방식은 네 단계입니다. 먼저 학생이 학기 중 자신이 한 일을 기록합니다. 기여는 잔디와 연속기록으로 시각화됩니다. 다음으로 팀원끼리 익명으로 서로를 평가합니다. 그러면 AI가 본인 기록과 동료평가라는 두 근거를 교차검증해 리포트를 만들고, 이 정리된 근거가 교수님 대시보드에 표시됩니다. 왼쪽이 실제 학생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주요 기능은 학생 화면과 교수 화면으로 나뉩니다. 학생은 활동을 기록하고, 익명 동료평가를 하고, 발표자료나 코드 같은 산출물을 업로드합니다. 교수님은 팀별·개인별 기여도를 차트 대시보드로 한눈에 보시고, 교차검증 플래그로 무임승차나 불일치를 자동으로 감지하며, AI가 만든 기여도 리포트를 성적 근거로 활용하실 수 있습니다. 나아가 미니 LMS로 과목의 마일스톤과 제출까지 관리됩니다.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N분의1은 교수님께 세 가지를 드립니다. 첫째, 팀별·개인별 기여도를 근거와 함께 보여드려 성적 부여의 근거를 확보해 드립니다. 둘째, 무임승차나 기록·평가 불일치 같은 문제를 조기에 감지해 드립니다. 셋째, 졸업작품과 중간·기말 프로젝트 일정까지 한 앱에서 관리됩니다. 감시가 아닌 증명, N분의1이었습니다.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5800" y="621792"/>
            <a:ext cx="868680" cy="868680"/>
          </a:xfrm>
          <a:prstGeom prst="roundRect">
            <a:avLst>
              <a:gd name="adj" fmla="val 23158"/>
            </a:avLst>
          </a:prstGeom>
          <a:solidFill>
            <a:srgbClr val="6366F1"/>
          </a:solidFill>
          <a:ln/>
        </p:spPr>
      </p:sp>
      <p:sp>
        <p:nvSpPr>
          <p:cNvPr id="3" name="Text 1"/>
          <p:cNvSpPr/>
          <p:nvPr/>
        </p:nvSpPr>
        <p:spPr>
          <a:xfrm>
            <a:off x="685800" y="621792"/>
            <a:ext cx="868680"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Pretendard" pitchFamily="34" charset="0"/>
                <a:ea typeface="Pretendard" pitchFamily="34" charset="-122"/>
                <a:cs typeface="Pretendard" pitchFamily="34" charset="-120"/>
              </a:rPr>
              <a:t>1/N</a:t>
            </a:r>
            <a:endParaRPr lang="en-US" sz="2200" dirty="0"/>
          </a:p>
        </p:txBody>
      </p:sp>
      <p:sp>
        <p:nvSpPr>
          <p:cNvPr id="4" name="Text 2"/>
          <p:cNvSpPr/>
          <p:nvPr/>
        </p:nvSpPr>
        <p:spPr>
          <a:xfrm>
            <a:off x="1737360" y="640080"/>
            <a:ext cx="5486400" cy="420624"/>
          </a:xfrm>
          <a:prstGeom prst="rect">
            <a:avLst/>
          </a:prstGeom>
          <a:noFill/>
          <a:ln/>
        </p:spPr>
        <p:txBody>
          <a:bodyPr wrap="square" lIns="0" tIns="0" rIns="0" bIns="0" rtlCol="0" anchor="ctr"/>
          <a:lstStyle/>
          <a:p>
            <a:pPr indent="0" marL="0">
              <a:buNone/>
            </a:pPr>
            <a:r>
              <a:rPr lang="en-US" sz="1400" dirty="0">
                <a:solidFill>
                  <a:srgbClr val="C7D2FE"/>
                </a:solidFill>
                <a:latin typeface="Pretendard" pitchFamily="34" charset="0"/>
                <a:ea typeface="Pretendard" pitchFamily="34" charset="-122"/>
                <a:cs typeface="Pretendard" pitchFamily="34" charset="-120"/>
              </a:rPr>
              <a:t>성서대학교 소프트웨어 해커톤</a:t>
            </a:r>
            <a:endParaRPr lang="en-US" sz="1400" dirty="0"/>
          </a:p>
        </p:txBody>
      </p:sp>
      <p:sp>
        <p:nvSpPr>
          <p:cNvPr id="5" name="Text 3"/>
          <p:cNvSpPr/>
          <p:nvPr/>
        </p:nvSpPr>
        <p:spPr>
          <a:xfrm>
            <a:off x="1737360" y="1042416"/>
            <a:ext cx="5486400" cy="402336"/>
          </a:xfrm>
          <a:prstGeom prst="rect">
            <a:avLst/>
          </a:prstGeom>
          <a:noFill/>
          <a:ln/>
        </p:spPr>
        <p:txBody>
          <a:bodyPr wrap="square" lIns="0" tIns="0" rIns="0" bIns="0" rtlCol="0" anchor="ctr"/>
          <a:lstStyle/>
          <a:p>
            <a:pPr indent="0" marL="0">
              <a:buNone/>
            </a:pPr>
            <a:r>
              <a:rPr lang="en-US" sz="1100" b="1" spc="300" kern="0" dirty="0">
                <a:solidFill>
                  <a:srgbClr val="A5B4FC"/>
                </a:solidFill>
                <a:latin typeface="Pretendard" pitchFamily="34" charset="0"/>
                <a:ea typeface="Pretendard" pitchFamily="34" charset="-122"/>
                <a:cs typeface="Pretendard" pitchFamily="34" charset="-120"/>
              </a:rPr>
              <a:t>FINAL PRESENTATION</a:t>
            </a:r>
            <a:endParaRPr lang="en-US" sz="1100" dirty="0"/>
          </a:p>
        </p:txBody>
      </p:sp>
      <p:sp>
        <p:nvSpPr>
          <p:cNvPr id="6" name="Text 4"/>
          <p:cNvSpPr/>
          <p:nvPr/>
        </p:nvSpPr>
        <p:spPr>
          <a:xfrm>
            <a:off x="749808" y="1874520"/>
            <a:ext cx="7680960" cy="1097280"/>
          </a:xfrm>
          <a:prstGeom prst="rect">
            <a:avLst/>
          </a:prstGeom>
          <a:noFill/>
          <a:ln/>
        </p:spPr>
        <p:txBody>
          <a:bodyPr wrap="square" lIns="0" tIns="0" rIns="0" bIns="0" rtlCol="0" anchor="t"/>
          <a:lstStyle/>
          <a:p>
            <a:pPr algn="l" indent="0" marL="0">
              <a:buNone/>
            </a:pPr>
            <a:r>
              <a:rPr lang="en-US" sz="5800" b="1" spc="-50" kern="0" dirty="0">
                <a:solidFill>
                  <a:srgbClr val="FFFFFF"/>
                </a:solidFill>
                <a:latin typeface="Pretendard" pitchFamily="34" charset="0"/>
                <a:ea typeface="Pretendard" pitchFamily="34" charset="-122"/>
                <a:cs typeface="Pretendard" pitchFamily="34" charset="-120"/>
              </a:rPr>
              <a:t>N분의1</a:t>
            </a:r>
            <a:endParaRPr lang="en-US" sz="5800" dirty="0"/>
          </a:p>
        </p:txBody>
      </p:sp>
      <p:sp>
        <p:nvSpPr>
          <p:cNvPr id="7" name="Text 5"/>
          <p:cNvSpPr/>
          <p:nvPr/>
        </p:nvSpPr>
        <p:spPr>
          <a:xfrm>
            <a:off x="777240" y="3063240"/>
            <a:ext cx="7680960" cy="548640"/>
          </a:xfrm>
          <a:prstGeom prst="rect">
            <a:avLst/>
          </a:prstGeom>
          <a:noFill/>
          <a:ln/>
        </p:spPr>
        <p:txBody>
          <a:bodyPr wrap="square" lIns="0" tIns="0" rIns="0" bIns="0" rtlCol="0" anchor="t"/>
          <a:lstStyle/>
          <a:p>
            <a:pPr indent="0" marL="0">
              <a:buNone/>
            </a:pPr>
            <a:r>
              <a:rPr lang="en-US" sz="2200" b="1" dirty="0">
                <a:solidFill>
                  <a:srgbClr val="FCD34D"/>
                </a:solidFill>
                <a:latin typeface="Pretendard" pitchFamily="34" charset="0"/>
                <a:ea typeface="Pretendard" pitchFamily="34" charset="-122"/>
                <a:cs typeface="Pretendard" pitchFamily="34" charset="-120"/>
              </a:rPr>
              <a:t>팀 프로젝트 기여도를 기록하고, 근거로 평가하는 앱</a:t>
            </a:r>
            <a:endParaRPr lang="en-US" sz="2200" dirty="0"/>
          </a:p>
        </p:txBody>
      </p:sp>
      <p:sp>
        <p:nvSpPr>
          <p:cNvPr id="8" name="Text 6"/>
          <p:cNvSpPr/>
          <p:nvPr/>
        </p:nvSpPr>
        <p:spPr>
          <a:xfrm>
            <a:off x="777240" y="3794760"/>
            <a:ext cx="7498080" cy="1097280"/>
          </a:xfrm>
          <a:prstGeom prst="rect">
            <a:avLst/>
          </a:prstGeom>
          <a:noFill/>
          <a:ln/>
        </p:spPr>
        <p:txBody>
          <a:bodyPr wrap="square" lIns="0" tIns="0" rIns="0" bIns="0" rtlCol="0" anchor="t"/>
          <a:lstStyle/>
          <a:p>
            <a:pPr indent="0" marL="0">
              <a:lnSpc>
                <a:spcPct val="125000"/>
              </a:lnSpc>
              <a:buNone/>
            </a:pPr>
            <a:r>
              <a:rPr lang="en-US" sz="1600" dirty="0">
                <a:solidFill>
                  <a:srgbClr val="C7D2FE"/>
                </a:solidFill>
                <a:latin typeface="Pretendard" pitchFamily="34" charset="0"/>
                <a:ea typeface="Pretendard" pitchFamily="34" charset="-122"/>
                <a:cs typeface="Pretendard" pitchFamily="34" charset="-120"/>
              </a:rPr>
              <a:t>학생은 학기 내내 자신의 기여를 남기고,</a:t>
            </a:r>
            <a:endParaRPr lang="en-US" sz="1600" dirty="0"/>
          </a:p>
          <a:p>
            <a:pPr indent="0" marL="0">
              <a:lnSpc>
                <a:spcPct val="125000"/>
              </a:lnSpc>
              <a:buNone/>
            </a:pPr>
            <a:r>
              <a:rPr lang="en-US" sz="1600" dirty="0">
                <a:solidFill>
                  <a:srgbClr val="C7D2FE"/>
                </a:solidFill>
                <a:latin typeface="Pretendard" pitchFamily="34" charset="0"/>
                <a:ea typeface="Pretendard" pitchFamily="34" charset="-122"/>
                <a:cs typeface="Pretendard" pitchFamily="34" charset="-120"/>
              </a:rPr>
              <a:t>교수님은 그 데이터를 근거로 공정하게 평가합니다.</a:t>
            </a:r>
            <a:endParaRPr lang="en-US" sz="1600" dirty="0"/>
          </a:p>
        </p:txBody>
      </p:sp>
      <p:sp>
        <p:nvSpPr>
          <p:cNvPr id="9" name="Shape 7"/>
          <p:cNvSpPr/>
          <p:nvPr/>
        </p:nvSpPr>
        <p:spPr>
          <a:xfrm>
            <a:off x="795528" y="5440680"/>
            <a:ext cx="2331720" cy="566928"/>
          </a:xfrm>
          <a:prstGeom prst="roundRect">
            <a:avLst>
              <a:gd name="adj" fmla="val 50000"/>
            </a:avLst>
          </a:prstGeom>
          <a:solidFill>
            <a:srgbClr val="6366F1"/>
          </a:solidFill>
          <a:ln/>
        </p:spPr>
      </p:sp>
      <p:sp>
        <p:nvSpPr>
          <p:cNvPr id="10" name="Text 8"/>
          <p:cNvSpPr/>
          <p:nvPr/>
        </p:nvSpPr>
        <p:spPr>
          <a:xfrm>
            <a:off x="795528" y="5440680"/>
            <a:ext cx="233172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감시가 아닌, 증명</a:t>
            </a:r>
            <a:endParaRPr lang="en-US" sz="1500" dirty="0"/>
          </a:p>
        </p:txBody>
      </p:sp>
      <p:pic>
        <p:nvPicPr>
          <p:cNvPr id="11" name="Image 0" descr="C:/Users/HP15~1/AppData/Local/Temp/claude/C--Users-HP-15-Desktop-Hackathon/e11a162a-fd90-4cff-922b-c82073c29db3/scratchpad/deck/assets/dev_login.png">    </p:cNvPr>
          <p:cNvPicPr>
            <a:picLocks noChangeAspect="1"/>
          </p:cNvPicPr>
          <p:nvPr/>
        </p:nvPicPr>
        <p:blipFill>
          <a:blip r:embed="rId2"/>
          <a:stretch>
            <a:fillRect/>
          </a:stretch>
        </p:blipFill>
        <p:spPr>
          <a:xfrm>
            <a:off x="8869680" y="457200"/>
            <a:ext cx="2672906" cy="5715000"/>
          </a:xfrm>
          <a:prstGeom prst="rect">
            <a:avLst/>
          </a:prstGeom>
        </p:spPr>
      </p:pic>
      <p:sp>
        <p:nvSpPr>
          <p:cNvPr id="12" name="Text 9"/>
          <p:cNvSpPr/>
          <p:nvPr/>
        </p:nvSpPr>
        <p:spPr>
          <a:xfrm>
            <a:off x="548640" y="6528816"/>
            <a:ext cx="7315200" cy="256032"/>
          </a:xfrm>
          <a:prstGeom prst="rect">
            <a:avLst/>
          </a:prstGeom>
          <a:noFill/>
          <a:ln/>
        </p:spPr>
        <p:txBody>
          <a:bodyPr wrap="square" lIns="0" tIns="0" rIns="0" bIns="0" rtlCol="0" anchor="ctr"/>
          <a:lstStyle/>
          <a:p>
            <a:pPr indent="0" marL="0">
              <a:buNone/>
            </a:pPr>
            <a:r>
              <a:rPr lang="en-US" sz="900" dirty="0">
                <a:solidFill>
                  <a:srgbClr val="A5B4FC"/>
                </a:solidFill>
                <a:latin typeface="Pretendard" pitchFamily="34" charset="0"/>
                <a:ea typeface="Pretendard" pitchFamily="34" charset="-122"/>
                <a:cs typeface="Pretendard" pitchFamily="34" charset="-120"/>
              </a:rPr>
              <a:t>N분의1  ·  팀 프로젝트 기여도 증명·관리 플랫폼</a:t>
            </a:r>
            <a:endParaRPr lang="en-US" sz="900" dirty="0"/>
          </a:p>
        </p:txBody>
      </p:sp>
      <p:sp>
        <p:nvSpPr>
          <p:cNvPr id="13" name="Text 10"/>
          <p:cNvSpPr/>
          <p:nvPr/>
        </p:nvSpPr>
        <p:spPr>
          <a:xfrm>
            <a:off x="9966960" y="6528816"/>
            <a:ext cx="1673352" cy="256032"/>
          </a:xfrm>
          <a:prstGeom prst="rect">
            <a:avLst/>
          </a:prstGeom>
          <a:noFill/>
          <a:ln/>
        </p:spPr>
        <p:txBody>
          <a:bodyPr wrap="square" lIns="0" tIns="0" rIns="0" bIns="0" rtlCol="0" anchor="ctr"/>
          <a:lstStyle/>
          <a:p>
            <a:pPr algn="r" indent="0" marL="0">
              <a:buNone/>
            </a:pPr>
            <a:r>
              <a:rPr lang="en-US" sz="900" dirty="0">
                <a:solidFill>
                  <a:srgbClr val="A5B4FC"/>
                </a:solidFill>
                <a:latin typeface="Pretendard" pitchFamily="34" charset="0"/>
                <a:ea typeface="Pretendard" pitchFamily="34" charset="-122"/>
                <a:cs typeface="Pretendard" pitchFamily="34" charset="-120"/>
              </a:rPr>
              <a:t>01  /  05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566160" y="566928"/>
            <a:ext cx="8229600" cy="310896"/>
          </a:xfrm>
          <a:prstGeom prst="rect">
            <a:avLst/>
          </a:prstGeom>
          <a:noFill/>
          <a:ln/>
        </p:spPr>
        <p:txBody>
          <a:bodyPr wrap="square" lIns="0" tIns="0" rIns="0" bIns="0" rtlCol="0" anchor="ctr"/>
          <a:lstStyle/>
          <a:p>
            <a:pPr indent="0" marL="0">
              <a:buNone/>
            </a:pPr>
            <a:r>
              <a:rPr lang="en-US" sz="1100" b="1" dirty="0">
                <a:solidFill>
                  <a:srgbClr val="DC2626"/>
                </a:solidFill>
                <a:latin typeface="Pretendard" pitchFamily="34" charset="0"/>
                <a:ea typeface="Pretendard" pitchFamily="34" charset="-122"/>
                <a:cs typeface="Pretendard" pitchFamily="34" charset="-120"/>
              </a:rPr>
              <a:t>●  </a:t>
            </a:r>
            <a:pPr indent="0" marL="0">
              <a:buNone/>
            </a:pPr>
            <a:r>
              <a:rPr lang="en-US" sz="1250" b="1" spc="100" kern="0" dirty="0">
                <a:solidFill>
                  <a:srgbClr val="DC2626"/>
                </a:solidFill>
                <a:latin typeface="Pretendard" pitchFamily="34" charset="0"/>
                <a:ea typeface="Pretendard" pitchFamily="34" charset="-122"/>
                <a:cs typeface="Pretendard" pitchFamily="34" charset="-120"/>
              </a:rPr>
              <a:t>BACKGROUND · 개발 배경</a:t>
            </a:r>
            <a:endParaRPr lang="en-US" sz="1100" dirty="0"/>
          </a:p>
        </p:txBody>
      </p:sp>
      <p:sp>
        <p:nvSpPr>
          <p:cNvPr id="3" name="Text 1"/>
          <p:cNvSpPr/>
          <p:nvPr/>
        </p:nvSpPr>
        <p:spPr>
          <a:xfrm>
            <a:off x="3566160" y="914400"/>
            <a:ext cx="8001000" cy="1371600"/>
          </a:xfrm>
          <a:prstGeom prst="rect">
            <a:avLst/>
          </a:prstGeom>
          <a:noFill/>
          <a:ln/>
        </p:spPr>
        <p:txBody>
          <a:bodyPr wrap="square" lIns="0" tIns="0" rIns="0" bIns="0" rtlCol="0" anchor="t"/>
          <a:lstStyle/>
          <a:p>
            <a:pPr algn="l" indent="0" marL="0">
              <a:lnSpc>
                <a:spcPct val="103000"/>
              </a:lnSpc>
              <a:buNone/>
            </a:pPr>
            <a:r>
              <a:rPr lang="en-US" sz="3300" b="1" spc="-30" kern="0" dirty="0">
                <a:solidFill>
                  <a:srgbClr val="1E293B"/>
                </a:solidFill>
                <a:latin typeface="Pretendard" pitchFamily="34" charset="0"/>
                <a:ea typeface="Pretendard" pitchFamily="34" charset="-122"/>
                <a:cs typeface="Pretendard" pitchFamily="34" charset="-120"/>
              </a:rPr>
              <a:t>기여는 보이지 않고,</a:t>
            </a:r>
            <a:endParaRPr lang="en-US" sz="3300" dirty="0"/>
          </a:p>
          <a:p>
            <a:pPr algn="l" indent="0" marL="0">
              <a:lnSpc>
                <a:spcPct val="103000"/>
              </a:lnSpc>
              <a:buNone/>
            </a:pPr>
            <a:r>
              <a:rPr lang="en-US" sz="3300" b="1" spc="-30" kern="0" dirty="0">
                <a:solidFill>
                  <a:srgbClr val="1E293B"/>
                </a:solidFill>
                <a:latin typeface="Pretendard" pitchFamily="34" charset="0"/>
                <a:ea typeface="Pretendard" pitchFamily="34" charset="-122"/>
                <a:cs typeface="Pretendard" pitchFamily="34" charset="-120"/>
              </a:rPr>
              <a:t>성적은 </a:t>
            </a:r>
            <a:pPr algn="l" indent="0" marL="0">
              <a:lnSpc>
                <a:spcPct val="103000"/>
              </a:lnSpc>
              <a:buNone/>
            </a:pPr>
            <a:r>
              <a:rPr lang="en-US" sz="3300" b="1" spc="-30" kern="0" dirty="0">
                <a:solidFill>
                  <a:srgbClr val="DC2626"/>
                </a:solidFill>
                <a:latin typeface="Pretendard" pitchFamily="34" charset="0"/>
                <a:ea typeface="Pretendard" pitchFamily="34" charset="-122"/>
                <a:cs typeface="Pretendard" pitchFamily="34" charset="-120"/>
              </a:rPr>
              <a:t>똑같이</a:t>
            </a:r>
            <a:pPr algn="l" indent="0" marL="0">
              <a:lnSpc>
                <a:spcPct val="103000"/>
              </a:lnSpc>
              <a:buNone/>
            </a:pPr>
            <a:r>
              <a:rPr lang="en-US" sz="3300" b="1" spc="-30" kern="0" dirty="0">
                <a:solidFill>
                  <a:srgbClr val="1E293B"/>
                </a:solidFill>
                <a:latin typeface="Pretendard" pitchFamily="34" charset="0"/>
                <a:ea typeface="Pretendard" pitchFamily="34" charset="-122"/>
                <a:cs typeface="Pretendard" pitchFamily="34" charset="-120"/>
              </a:rPr>
              <a:t> 나뉩니다</a:t>
            </a:r>
            <a:endParaRPr lang="en-US" sz="3300" dirty="0"/>
          </a:p>
        </p:txBody>
      </p:sp>
      <p:sp>
        <p:nvSpPr>
          <p:cNvPr id="4" name="Text 2"/>
          <p:cNvSpPr/>
          <p:nvPr/>
        </p:nvSpPr>
        <p:spPr>
          <a:xfrm>
            <a:off x="3566160" y="2212848"/>
            <a:ext cx="8001000" cy="457200"/>
          </a:xfrm>
          <a:prstGeom prst="rect">
            <a:avLst/>
          </a:prstGeom>
          <a:noFill/>
          <a:ln/>
        </p:spPr>
        <p:txBody>
          <a:bodyPr wrap="square" lIns="0" tIns="0" rIns="0" bIns="0" rtlCol="0" anchor="ctr"/>
          <a:lstStyle/>
          <a:p>
            <a:pPr indent="0" marL="0">
              <a:buNone/>
            </a:pPr>
            <a:r>
              <a:rPr lang="en-US" sz="1600" b="1" dirty="0">
                <a:solidFill>
                  <a:srgbClr val="DC2626"/>
                </a:solidFill>
                <a:latin typeface="Pretendard" pitchFamily="34" charset="0"/>
                <a:ea typeface="Pretendard" pitchFamily="34" charset="-122"/>
                <a:cs typeface="Pretendard" pitchFamily="34" charset="-120"/>
              </a:rPr>
              <a:t>팀 프로젝트 평가가 어려운 이유</a:t>
            </a:r>
            <a:endParaRPr lang="en-US" sz="1600" dirty="0"/>
          </a:p>
        </p:txBody>
      </p:sp>
      <p:sp>
        <p:nvSpPr>
          <p:cNvPr id="5" name="Shape 3"/>
          <p:cNvSpPr/>
          <p:nvPr/>
        </p:nvSpPr>
        <p:spPr>
          <a:xfrm>
            <a:off x="3566160" y="2743200"/>
            <a:ext cx="8001000" cy="987552"/>
          </a:xfrm>
          <a:prstGeom prst="roundRect">
            <a:avLst>
              <a:gd name="adj" fmla="val 9259"/>
            </a:avLst>
          </a:prstGeom>
          <a:solidFill>
            <a:srgbClr val="FFFFFF"/>
          </a:solidFill>
          <a:ln/>
          <a:effectLst>
            <a:outerShdw sx="100000" sy="100000" kx="0" ky="0" algn="bl" rotWithShape="0" blurRad="101600" dist="25400" dir="5400000">
              <a:srgbClr val="000000">
                <a:alpha val="10000"/>
              </a:srgbClr>
            </a:outerShdw>
          </a:effectLst>
        </p:spPr>
      </p:sp>
      <p:sp>
        <p:nvSpPr>
          <p:cNvPr id="6" name="Shape 4"/>
          <p:cNvSpPr/>
          <p:nvPr/>
        </p:nvSpPr>
        <p:spPr>
          <a:xfrm>
            <a:off x="3803904" y="2962656"/>
            <a:ext cx="548640" cy="548640"/>
          </a:xfrm>
          <a:prstGeom prst="ellipse">
            <a:avLst/>
          </a:prstGeom>
          <a:solidFill>
            <a:srgbClr val="FEE2E2"/>
          </a:solidFill>
          <a:ln/>
        </p:spPr>
      </p:sp>
      <p:pic>
        <p:nvPicPr>
          <p:cNvPr id="7" name="Image 0" descr="preencoded.png">    </p:cNvPr>
          <p:cNvPicPr>
            <a:picLocks noChangeAspect="1"/>
          </p:cNvPicPr>
          <p:nvPr/>
        </p:nvPicPr>
        <p:blipFill>
          <a:blip r:embed="rId1"/>
          <a:stretch>
            <a:fillRect/>
          </a:stretch>
        </p:blipFill>
        <p:spPr>
          <a:xfrm>
            <a:off x="3941064" y="3099816"/>
            <a:ext cx="274320" cy="274320"/>
          </a:xfrm>
          <a:prstGeom prst="rect">
            <a:avLst/>
          </a:prstGeom>
        </p:spPr>
      </p:pic>
      <p:sp>
        <p:nvSpPr>
          <p:cNvPr id="8" name="Text 5"/>
          <p:cNvSpPr/>
          <p:nvPr/>
        </p:nvSpPr>
        <p:spPr>
          <a:xfrm>
            <a:off x="4626864" y="2871216"/>
            <a:ext cx="6665976" cy="438912"/>
          </a:xfrm>
          <a:prstGeom prst="rect">
            <a:avLst/>
          </a:prstGeom>
          <a:noFill/>
          <a:ln/>
        </p:spPr>
        <p:txBody>
          <a:bodyPr wrap="square" lIns="0" tIns="0" rIns="0" bIns="0" rtlCol="0" anchor="ctr"/>
          <a:lstStyle/>
          <a:p>
            <a:pPr indent="0" marL="0">
              <a:buNone/>
            </a:pPr>
            <a:r>
              <a:rPr lang="en-US" sz="1650" b="1" dirty="0">
                <a:solidFill>
                  <a:srgbClr val="1E293B"/>
                </a:solidFill>
                <a:latin typeface="Pretendard" pitchFamily="34" charset="0"/>
                <a:ea typeface="Pretendard" pitchFamily="34" charset="-122"/>
                <a:cs typeface="Pretendard" pitchFamily="34" charset="-120"/>
              </a:rPr>
              <a:t>결과물만 보입니다</a:t>
            </a:r>
            <a:endParaRPr lang="en-US" sz="1650" dirty="0"/>
          </a:p>
        </p:txBody>
      </p:sp>
      <p:sp>
        <p:nvSpPr>
          <p:cNvPr id="9" name="Text 6"/>
          <p:cNvSpPr/>
          <p:nvPr/>
        </p:nvSpPr>
        <p:spPr>
          <a:xfrm>
            <a:off x="4626864" y="3182112"/>
            <a:ext cx="6665976" cy="402336"/>
          </a:xfrm>
          <a:prstGeom prst="rect">
            <a:avLst/>
          </a:prstGeom>
          <a:noFill/>
          <a:ln/>
        </p:spPr>
        <p:txBody>
          <a:bodyPr wrap="square" lIns="0" tIns="0" rIns="0" bIns="0" rtlCol="0" anchor="ctr"/>
          <a:lstStyle/>
          <a:p>
            <a:pPr indent="0" marL="0">
              <a:buNone/>
            </a:pPr>
            <a:r>
              <a:rPr lang="en-US" sz="1250" dirty="0">
                <a:solidFill>
                  <a:srgbClr val="64748B"/>
                </a:solidFill>
                <a:latin typeface="Pretendard" pitchFamily="34" charset="0"/>
                <a:ea typeface="Pretendard" pitchFamily="34" charset="-122"/>
                <a:cs typeface="Pretendard" pitchFamily="34" charset="-120"/>
              </a:rPr>
              <a:t>교수님이 과정의 실제 기여를 확인하기 어렵습니다</a:t>
            </a:r>
            <a:endParaRPr lang="en-US" sz="1250" dirty="0"/>
          </a:p>
        </p:txBody>
      </p:sp>
      <p:sp>
        <p:nvSpPr>
          <p:cNvPr id="10" name="Shape 7"/>
          <p:cNvSpPr/>
          <p:nvPr/>
        </p:nvSpPr>
        <p:spPr>
          <a:xfrm>
            <a:off x="3566160" y="3950208"/>
            <a:ext cx="8001000" cy="987552"/>
          </a:xfrm>
          <a:prstGeom prst="roundRect">
            <a:avLst>
              <a:gd name="adj" fmla="val 9259"/>
            </a:avLst>
          </a:prstGeom>
          <a:solidFill>
            <a:srgbClr val="FFFFFF"/>
          </a:solidFill>
          <a:ln/>
          <a:effectLst>
            <a:outerShdw sx="100000" sy="100000" kx="0" ky="0" algn="bl" rotWithShape="0" blurRad="101600" dist="25400" dir="5400000">
              <a:srgbClr val="000000">
                <a:alpha val="10000"/>
              </a:srgbClr>
            </a:outerShdw>
          </a:effectLst>
        </p:spPr>
      </p:sp>
      <p:sp>
        <p:nvSpPr>
          <p:cNvPr id="11" name="Shape 8"/>
          <p:cNvSpPr/>
          <p:nvPr/>
        </p:nvSpPr>
        <p:spPr>
          <a:xfrm>
            <a:off x="3803904" y="4169664"/>
            <a:ext cx="548640" cy="548640"/>
          </a:xfrm>
          <a:prstGeom prst="ellipse">
            <a:avLst/>
          </a:prstGeom>
          <a:solidFill>
            <a:srgbClr val="FEE2E2"/>
          </a:solidFill>
          <a:ln/>
        </p:spPr>
      </p:sp>
      <p:pic>
        <p:nvPicPr>
          <p:cNvPr id="12" name="Image 1" descr="preencoded.png">    </p:cNvPr>
          <p:cNvPicPr>
            <a:picLocks noChangeAspect="1"/>
          </p:cNvPicPr>
          <p:nvPr/>
        </p:nvPicPr>
        <p:blipFill>
          <a:blip r:embed="rId2"/>
          <a:stretch>
            <a:fillRect/>
          </a:stretch>
        </p:blipFill>
        <p:spPr>
          <a:xfrm>
            <a:off x="3941064" y="4306824"/>
            <a:ext cx="274320" cy="274320"/>
          </a:xfrm>
          <a:prstGeom prst="rect">
            <a:avLst/>
          </a:prstGeom>
        </p:spPr>
      </p:pic>
      <p:sp>
        <p:nvSpPr>
          <p:cNvPr id="13" name="Text 9"/>
          <p:cNvSpPr/>
          <p:nvPr/>
        </p:nvSpPr>
        <p:spPr>
          <a:xfrm>
            <a:off x="4626864" y="4078224"/>
            <a:ext cx="6665976" cy="438912"/>
          </a:xfrm>
          <a:prstGeom prst="rect">
            <a:avLst/>
          </a:prstGeom>
          <a:noFill/>
          <a:ln/>
        </p:spPr>
        <p:txBody>
          <a:bodyPr wrap="square" lIns="0" tIns="0" rIns="0" bIns="0" rtlCol="0" anchor="ctr"/>
          <a:lstStyle/>
          <a:p>
            <a:pPr indent="0" marL="0">
              <a:buNone/>
            </a:pPr>
            <a:r>
              <a:rPr lang="en-US" sz="1650" b="1" dirty="0">
                <a:solidFill>
                  <a:srgbClr val="1E293B"/>
                </a:solidFill>
                <a:latin typeface="Pretendard" pitchFamily="34" charset="0"/>
                <a:ea typeface="Pretendard" pitchFamily="34" charset="-122"/>
                <a:cs typeface="Pretendard" pitchFamily="34" charset="-120"/>
              </a:rPr>
              <a:t>동료평가는 근거가 약합니다</a:t>
            </a:r>
            <a:endParaRPr lang="en-US" sz="1650" dirty="0"/>
          </a:p>
        </p:txBody>
      </p:sp>
      <p:sp>
        <p:nvSpPr>
          <p:cNvPr id="14" name="Text 10"/>
          <p:cNvSpPr/>
          <p:nvPr/>
        </p:nvSpPr>
        <p:spPr>
          <a:xfrm>
            <a:off x="4626864" y="4389120"/>
            <a:ext cx="6665976" cy="402336"/>
          </a:xfrm>
          <a:prstGeom prst="rect">
            <a:avLst/>
          </a:prstGeom>
          <a:noFill/>
          <a:ln/>
        </p:spPr>
        <p:txBody>
          <a:bodyPr wrap="square" lIns="0" tIns="0" rIns="0" bIns="0" rtlCol="0" anchor="ctr"/>
          <a:lstStyle/>
          <a:p>
            <a:pPr indent="0" marL="0">
              <a:buNone/>
            </a:pPr>
            <a:r>
              <a:rPr lang="en-US" sz="1250" dirty="0">
                <a:solidFill>
                  <a:srgbClr val="64748B"/>
                </a:solidFill>
                <a:latin typeface="Pretendard" pitchFamily="34" charset="0"/>
                <a:ea typeface="Pretendard" pitchFamily="34" charset="-122"/>
                <a:cs typeface="Pretendard" pitchFamily="34" charset="-120"/>
              </a:rPr>
              <a:t>학기말 설문 한 번은 주관적이고 기록이 남지 않아요</a:t>
            </a:r>
            <a:endParaRPr lang="en-US" sz="1250" dirty="0"/>
          </a:p>
        </p:txBody>
      </p:sp>
      <p:sp>
        <p:nvSpPr>
          <p:cNvPr id="15" name="Shape 11"/>
          <p:cNvSpPr/>
          <p:nvPr/>
        </p:nvSpPr>
        <p:spPr>
          <a:xfrm>
            <a:off x="3566160" y="5157216"/>
            <a:ext cx="8001000" cy="987552"/>
          </a:xfrm>
          <a:prstGeom prst="roundRect">
            <a:avLst>
              <a:gd name="adj" fmla="val 9259"/>
            </a:avLst>
          </a:prstGeom>
          <a:solidFill>
            <a:srgbClr val="FFFFFF"/>
          </a:solidFill>
          <a:ln/>
          <a:effectLst>
            <a:outerShdw sx="100000" sy="100000" kx="0" ky="0" algn="bl" rotWithShape="0" blurRad="101600" dist="25400" dir="5400000">
              <a:srgbClr val="000000">
                <a:alpha val="10000"/>
              </a:srgbClr>
            </a:outerShdw>
          </a:effectLst>
        </p:spPr>
      </p:sp>
      <p:sp>
        <p:nvSpPr>
          <p:cNvPr id="16" name="Shape 12"/>
          <p:cNvSpPr/>
          <p:nvPr/>
        </p:nvSpPr>
        <p:spPr>
          <a:xfrm>
            <a:off x="3803904" y="5376672"/>
            <a:ext cx="548640" cy="548640"/>
          </a:xfrm>
          <a:prstGeom prst="ellipse">
            <a:avLst/>
          </a:prstGeom>
          <a:solidFill>
            <a:srgbClr val="FEE2E2"/>
          </a:solidFill>
          <a:ln/>
        </p:spPr>
      </p:sp>
      <p:pic>
        <p:nvPicPr>
          <p:cNvPr id="17" name="Image 2" descr="preencoded.png">    </p:cNvPr>
          <p:cNvPicPr>
            <a:picLocks noChangeAspect="1"/>
          </p:cNvPicPr>
          <p:nvPr/>
        </p:nvPicPr>
        <p:blipFill>
          <a:blip r:embed="rId3"/>
          <a:stretch>
            <a:fillRect/>
          </a:stretch>
        </p:blipFill>
        <p:spPr>
          <a:xfrm>
            <a:off x="3941064" y="5513832"/>
            <a:ext cx="274320" cy="274320"/>
          </a:xfrm>
          <a:prstGeom prst="rect">
            <a:avLst/>
          </a:prstGeom>
        </p:spPr>
      </p:pic>
      <p:sp>
        <p:nvSpPr>
          <p:cNvPr id="18" name="Text 13"/>
          <p:cNvSpPr/>
          <p:nvPr/>
        </p:nvSpPr>
        <p:spPr>
          <a:xfrm>
            <a:off x="4626864" y="5285232"/>
            <a:ext cx="6665976" cy="438912"/>
          </a:xfrm>
          <a:prstGeom prst="rect">
            <a:avLst/>
          </a:prstGeom>
          <a:noFill/>
          <a:ln/>
        </p:spPr>
        <p:txBody>
          <a:bodyPr wrap="square" lIns="0" tIns="0" rIns="0" bIns="0" rtlCol="0" anchor="ctr"/>
          <a:lstStyle/>
          <a:p>
            <a:pPr indent="0" marL="0">
              <a:buNone/>
            </a:pPr>
            <a:r>
              <a:rPr lang="en-US" sz="1650" b="1" dirty="0">
                <a:solidFill>
                  <a:srgbClr val="1E293B"/>
                </a:solidFill>
                <a:latin typeface="Pretendard" pitchFamily="34" charset="0"/>
                <a:ea typeface="Pretendard" pitchFamily="34" charset="-122"/>
                <a:cs typeface="Pretendard" pitchFamily="34" charset="-120"/>
              </a:rPr>
              <a:t>참여와 무관하게 같은 학점</a:t>
            </a:r>
            <a:endParaRPr lang="en-US" sz="1650" dirty="0"/>
          </a:p>
        </p:txBody>
      </p:sp>
      <p:sp>
        <p:nvSpPr>
          <p:cNvPr id="19" name="Text 14"/>
          <p:cNvSpPr/>
          <p:nvPr/>
        </p:nvSpPr>
        <p:spPr>
          <a:xfrm>
            <a:off x="4626864" y="5596128"/>
            <a:ext cx="6665976" cy="402336"/>
          </a:xfrm>
          <a:prstGeom prst="rect">
            <a:avLst/>
          </a:prstGeom>
          <a:noFill/>
          <a:ln/>
        </p:spPr>
        <p:txBody>
          <a:bodyPr wrap="square" lIns="0" tIns="0" rIns="0" bIns="0" rtlCol="0" anchor="ctr"/>
          <a:lstStyle/>
          <a:p>
            <a:pPr indent="0" marL="0">
              <a:buNone/>
            </a:pPr>
            <a:r>
              <a:rPr lang="en-US" sz="1250" dirty="0">
                <a:solidFill>
                  <a:srgbClr val="64748B"/>
                </a:solidFill>
                <a:latin typeface="Pretendard" pitchFamily="34" charset="0"/>
                <a:ea typeface="Pretendard" pitchFamily="34" charset="-122"/>
                <a:cs typeface="Pretendard" pitchFamily="34" charset="-120"/>
              </a:rPr>
              <a:t>열심히 한 학생과 아닌 학생이 같은 점수를 받습니다</a:t>
            </a:r>
            <a:endParaRPr lang="en-US" sz="1250" dirty="0"/>
          </a:p>
        </p:txBody>
      </p:sp>
      <p:sp>
        <p:nvSpPr>
          <p:cNvPr id="20" name="Shape 15"/>
          <p:cNvSpPr/>
          <p:nvPr/>
        </p:nvSpPr>
        <p:spPr>
          <a:xfrm>
            <a:off x="566928" y="502920"/>
            <a:ext cx="2715672" cy="5806440"/>
          </a:xfrm>
          <a:prstGeom prst="roundRect">
            <a:avLst>
              <a:gd name="adj" fmla="val 12795"/>
            </a:avLst>
          </a:prstGeom>
          <a:solidFill>
            <a:srgbClr val="0B0B11"/>
          </a:solidFill>
          <a:ln/>
          <a:effectLst>
            <a:outerShdw sx="100000" sy="100000" kx="0" ky="0" algn="bl" rotWithShape="0" blurRad="165100" dist="63500" dir="5400000">
              <a:srgbClr val="000000">
                <a:alpha val="28000"/>
              </a:srgbClr>
            </a:outerShdw>
          </a:effectLst>
        </p:spPr>
      </p:sp>
      <p:pic>
        <p:nvPicPr>
          <p:cNvPr id="21" name="Image 3" descr="C:/Users/HP15~1/AppData/Local/Temp/claude/C--Users-HP-15-Desktop-Hackathon/e11a162a-fd90-4cff-922b-c82073c29db3/scratchpad/deck/assets/dev_survey.png">    </p:cNvPr>
          <p:cNvPicPr>
            <a:picLocks noChangeAspect="1"/>
          </p:cNvPicPr>
          <p:nvPr/>
        </p:nvPicPr>
        <p:blipFill>
          <a:blip r:embed="rId4"/>
          <a:stretch>
            <a:fillRect/>
          </a:stretch>
        </p:blipFill>
        <p:spPr>
          <a:xfrm>
            <a:off x="566928" y="502920"/>
            <a:ext cx="2715672" cy="5806440"/>
          </a:xfrm>
          <a:prstGeom prst="rect">
            <a:avLst/>
          </a:prstGeom>
        </p:spPr>
      </p:pic>
      <p:sp>
        <p:nvSpPr>
          <p:cNvPr id="22" name="Text 16"/>
          <p:cNvSpPr/>
          <p:nvPr/>
        </p:nvSpPr>
        <p:spPr>
          <a:xfrm>
            <a:off x="548640" y="6528816"/>
            <a:ext cx="7315200" cy="256032"/>
          </a:xfrm>
          <a:prstGeom prst="rect">
            <a:avLst/>
          </a:prstGeom>
          <a:noFill/>
          <a:ln/>
        </p:spPr>
        <p:txBody>
          <a:bodyPr wrap="square" lIns="0" tIns="0" rIns="0" bIns="0" rtlCol="0" anchor="ctr"/>
          <a:lstStyle/>
          <a:p>
            <a:pPr indent="0" marL="0">
              <a:buNone/>
            </a:pPr>
            <a:r>
              <a:rPr lang="en-US" sz="900" dirty="0">
                <a:solidFill>
                  <a:srgbClr val="94A3B8"/>
                </a:solidFill>
                <a:latin typeface="Pretendard" pitchFamily="34" charset="0"/>
                <a:ea typeface="Pretendard" pitchFamily="34" charset="-122"/>
                <a:cs typeface="Pretendard" pitchFamily="34" charset="-120"/>
              </a:rPr>
              <a:t>N분의1  ·  팀 프로젝트 기여도 증명·관리 플랫폼</a:t>
            </a:r>
            <a:endParaRPr lang="en-US" sz="900" dirty="0"/>
          </a:p>
        </p:txBody>
      </p:sp>
      <p:sp>
        <p:nvSpPr>
          <p:cNvPr id="23" name="Text 17"/>
          <p:cNvSpPr/>
          <p:nvPr/>
        </p:nvSpPr>
        <p:spPr>
          <a:xfrm>
            <a:off x="9966960" y="6528816"/>
            <a:ext cx="1673352" cy="256032"/>
          </a:xfrm>
          <a:prstGeom prst="rect">
            <a:avLst/>
          </a:prstGeom>
          <a:noFill/>
          <a:ln/>
        </p:spPr>
        <p:txBody>
          <a:bodyPr wrap="square" lIns="0" tIns="0" rIns="0" bIns="0" rtlCol="0" anchor="ctr"/>
          <a:lstStyle/>
          <a:p>
            <a:pPr algn="r" indent="0" marL="0">
              <a:buNone/>
            </a:pPr>
            <a:r>
              <a:rPr lang="en-US" sz="900" dirty="0">
                <a:solidFill>
                  <a:srgbClr val="94A3B8"/>
                </a:solidFill>
                <a:latin typeface="Pretendard" pitchFamily="34" charset="0"/>
                <a:ea typeface="Pretendard" pitchFamily="34" charset="-122"/>
                <a:cs typeface="Pretendard" pitchFamily="34" charset="-120"/>
              </a:rPr>
              <a:t>02  /  05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566160" y="566928"/>
            <a:ext cx="8229600" cy="310896"/>
          </a:xfrm>
          <a:prstGeom prst="rect">
            <a:avLst/>
          </a:prstGeom>
          <a:noFill/>
          <a:ln/>
        </p:spPr>
        <p:txBody>
          <a:bodyPr wrap="square" lIns="0" tIns="0" rIns="0" bIns="0" rtlCol="0" anchor="ctr"/>
          <a:lstStyle/>
          <a:p>
            <a:pPr indent="0" marL="0">
              <a:buNone/>
            </a:pPr>
            <a:r>
              <a:rPr lang="en-US" sz="1100" b="1" dirty="0">
                <a:solidFill>
                  <a:srgbClr val="4F46E5"/>
                </a:solidFill>
                <a:latin typeface="Pretendard" pitchFamily="34" charset="0"/>
                <a:ea typeface="Pretendard" pitchFamily="34" charset="-122"/>
                <a:cs typeface="Pretendard" pitchFamily="34" charset="-120"/>
              </a:rPr>
              <a:t>●  </a:t>
            </a:r>
            <a:pPr indent="0" marL="0">
              <a:buNone/>
            </a:pPr>
            <a:r>
              <a:rPr lang="en-US" sz="1250" b="1" spc="100" kern="0" dirty="0">
                <a:solidFill>
                  <a:srgbClr val="4F46E5"/>
                </a:solidFill>
                <a:latin typeface="Pretendard" pitchFamily="34" charset="0"/>
                <a:ea typeface="Pretendard" pitchFamily="34" charset="-122"/>
                <a:cs typeface="Pretendard" pitchFamily="34" charset="-120"/>
              </a:rPr>
              <a:t>HOW IT WORKS · 작동 방식</a:t>
            </a:r>
            <a:endParaRPr lang="en-US" sz="1100" dirty="0"/>
          </a:p>
        </p:txBody>
      </p:sp>
      <p:sp>
        <p:nvSpPr>
          <p:cNvPr id="3" name="Text 1"/>
          <p:cNvSpPr/>
          <p:nvPr/>
        </p:nvSpPr>
        <p:spPr>
          <a:xfrm>
            <a:off x="3566160" y="914400"/>
            <a:ext cx="8001000" cy="1371600"/>
          </a:xfrm>
          <a:prstGeom prst="rect">
            <a:avLst/>
          </a:prstGeom>
          <a:noFill/>
          <a:ln/>
        </p:spPr>
        <p:txBody>
          <a:bodyPr wrap="square" lIns="0" tIns="0" rIns="0" bIns="0" rtlCol="0" anchor="t"/>
          <a:lstStyle/>
          <a:p>
            <a:pPr algn="l" indent="0" marL="0">
              <a:lnSpc>
                <a:spcPct val="103000"/>
              </a:lnSpc>
              <a:buNone/>
            </a:pPr>
            <a:r>
              <a:rPr lang="en-US" sz="3300" b="1" spc="-30" kern="0" dirty="0">
                <a:solidFill>
                  <a:srgbClr val="1E293B"/>
                </a:solidFill>
                <a:latin typeface="Pretendard" pitchFamily="34" charset="0"/>
                <a:ea typeface="Pretendard" pitchFamily="34" charset="-122"/>
                <a:cs typeface="Pretendard" pitchFamily="34" charset="-120"/>
              </a:rPr>
              <a:t>학기 중 쌓인 기록이,</a:t>
            </a:r>
            <a:endParaRPr lang="en-US" sz="3300" dirty="0"/>
          </a:p>
          <a:p>
            <a:pPr algn="l" indent="0" marL="0">
              <a:lnSpc>
                <a:spcPct val="103000"/>
              </a:lnSpc>
              <a:buNone/>
            </a:pPr>
            <a:r>
              <a:rPr lang="en-US" sz="3300" b="1" spc="-30" kern="0" dirty="0">
                <a:solidFill>
                  <a:srgbClr val="1E293B"/>
                </a:solidFill>
                <a:latin typeface="Pretendard" pitchFamily="34" charset="0"/>
                <a:ea typeface="Pretendard" pitchFamily="34" charset="-122"/>
                <a:cs typeface="Pretendard" pitchFamily="34" charset="-120"/>
              </a:rPr>
              <a:t>평가의 </a:t>
            </a:r>
            <a:pPr algn="l" indent="0" marL="0">
              <a:lnSpc>
                <a:spcPct val="103000"/>
              </a:lnSpc>
              <a:buNone/>
            </a:pPr>
            <a:r>
              <a:rPr lang="en-US" sz="3300" b="1" spc="-30" kern="0" dirty="0">
                <a:solidFill>
                  <a:srgbClr val="4F46E5"/>
                </a:solidFill>
                <a:latin typeface="Pretendard" pitchFamily="34" charset="0"/>
                <a:ea typeface="Pretendard" pitchFamily="34" charset="-122"/>
                <a:cs typeface="Pretendard" pitchFamily="34" charset="-120"/>
              </a:rPr>
              <a:t>근거</a:t>
            </a:r>
            <a:pPr algn="l" indent="0" marL="0">
              <a:lnSpc>
                <a:spcPct val="103000"/>
              </a:lnSpc>
              <a:buNone/>
            </a:pPr>
            <a:r>
              <a:rPr lang="en-US" sz="3300" b="1" spc="-30" kern="0" dirty="0">
                <a:solidFill>
                  <a:srgbClr val="1E293B"/>
                </a:solidFill>
                <a:latin typeface="Pretendard" pitchFamily="34" charset="0"/>
                <a:ea typeface="Pretendard" pitchFamily="34" charset="-122"/>
                <a:cs typeface="Pretendard" pitchFamily="34" charset="-120"/>
              </a:rPr>
              <a:t>가 됩니다</a:t>
            </a:r>
            <a:endParaRPr lang="en-US" sz="3300" dirty="0"/>
          </a:p>
        </p:txBody>
      </p:sp>
      <p:sp>
        <p:nvSpPr>
          <p:cNvPr id="4" name="Text 2"/>
          <p:cNvSpPr/>
          <p:nvPr/>
        </p:nvSpPr>
        <p:spPr>
          <a:xfrm>
            <a:off x="3566160" y="2212848"/>
            <a:ext cx="8001000" cy="457200"/>
          </a:xfrm>
          <a:prstGeom prst="rect">
            <a:avLst/>
          </a:prstGeom>
          <a:noFill/>
          <a:ln/>
        </p:spPr>
        <p:txBody>
          <a:bodyPr wrap="square" lIns="0" tIns="0" rIns="0" bIns="0" rtlCol="0" anchor="ctr"/>
          <a:lstStyle/>
          <a:p>
            <a:pPr indent="0" marL="0">
              <a:buNone/>
            </a:pPr>
            <a:r>
              <a:rPr lang="en-US" sz="1500" b="1" dirty="0">
                <a:solidFill>
                  <a:srgbClr val="4F46E5"/>
                </a:solidFill>
                <a:latin typeface="Pretendard" pitchFamily="34" charset="0"/>
                <a:ea typeface="Pretendard" pitchFamily="34" charset="-122"/>
                <a:cs typeface="Pretendard" pitchFamily="34" charset="-120"/>
              </a:rPr>
              <a:t>학생 기록 → 동료평가 → AI 검증 → 교수 대시보드</a:t>
            </a:r>
            <a:endParaRPr lang="en-US" sz="1500" dirty="0"/>
          </a:p>
        </p:txBody>
      </p:sp>
      <p:sp>
        <p:nvSpPr>
          <p:cNvPr id="5" name="Shape 3"/>
          <p:cNvSpPr/>
          <p:nvPr/>
        </p:nvSpPr>
        <p:spPr>
          <a:xfrm>
            <a:off x="3566160" y="2743200"/>
            <a:ext cx="8001000" cy="914400"/>
          </a:xfrm>
          <a:prstGeom prst="roundRect">
            <a:avLst>
              <a:gd name="adj" fmla="val 10000"/>
            </a:avLst>
          </a:prstGeom>
          <a:solidFill>
            <a:srgbClr val="FFFFFF"/>
          </a:solidFill>
          <a:ln/>
          <a:effectLst>
            <a:outerShdw sx="100000" sy="100000" kx="0" ky="0" algn="bl" rotWithShape="0" blurRad="101600" dist="25400" dir="5400000">
              <a:srgbClr val="000000">
                <a:alpha val="10000"/>
              </a:srgbClr>
            </a:outerShdw>
          </a:effectLst>
        </p:spPr>
      </p:sp>
      <p:sp>
        <p:nvSpPr>
          <p:cNvPr id="6" name="Shape 4"/>
          <p:cNvSpPr/>
          <p:nvPr/>
        </p:nvSpPr>
        <p:spPr>
          <a:xfrm>
            <a:off x="3803904" y="2926080"/>
            <a:ext cx="548640" cy="548640"/>
          </a:xfrm>
          <a:prstGeom prst="ellipse">
            <a:avLst/>
          </a:prstGeom>
          <a:solidFill>
            <a:srgbClr val="EEF0FF"/>
          </a:solidFill>
          <a:ln/>
        </p:spPr>
      </p:sp>
      <p:pic>
        <p:nvPicPr>
          <p:cNvPr id="7" name="Image 0" descr="preencoded.png">    </p:cNvPr>
          <p:cNvPicPr>
            <a:picLocks noChangeAspect="1"/>
          </p:cNvPicPr>
          <p:nvPr/>
        </p:nvPicPr>
        <p:blipFill>
          <a:blip r:embed="rId1"/>
          <a:stretch>
            <a:fillRect/>
          </a:stretch>
        </p:blipFill>
        <p:spPr>
          <a:xfrm>
            <a:off x="3941064" y="3063240"/>
            <a:ext cx="274320" cy="274320"/>
          </a:xfrm>
          <a:prstGeom prst="rect">
            <a:avLst/>
          </a:prstGeom>
        </p:spPr>
      </p:pic>
      <p:sp>
        <p:nvSpPr>
          <p:cNvPr id="8" name="Text 5"/>
          <p:cNvSpPr/>
          <p:nvPr/>
        </p:nvSpPr>
        <p:spPr>
          <a:xfrm>
            <a:off x="4626864" y="2871216"/>
            <a:ext cx="6665976" cy="438912"/>
          </a:xfrm>
          <a:prstGeom prst="rect">
            <a:avLst/>
          </a:prstGeom>
          <a:noFill/>
          <a:ln/>
        </p:spPr>
        <p:txBody>
          <a:bodyPr wrap="square" lIns="0" tIns="0" rIns="0" bIns="0" rtlCol="0" anchor="ctr"/>
          <a:lstStyle/>
          <a:p>
            <a:pPr indent="0" marL="0">
              <a:buNone/>
            </a:pPr>
            <a:r>
              <a:rPr lang="en-US" sz="1650" b="1" dirty="0">
                <a:solidFill>
                  <a:srgbClr val="1E293B"/>
                </a:solidFill>
                <a:latin typeface="Pretendard" pitchFamily="34" charset="0"/>
                <a:ea typeface="Pretendard" pitchFamily="34" charset="-122"/>
                <a:cs typeface="Pretendard" pitchFamily="34" charset="-120"/>
              </a:rPr>
              <a:t>학생이 활동을 기록합니다</a:t>
            </a:r>
            <a:endParaRPr lang="en-US" sz="1650" dirty="0"/>
          </a:p>
        </p:txBody>
      </p:sp>
      <p:sp>
        <p:nvSpPr>
          <p:cNvPr id="9" name="Text 6"/>
          <p:cNvSpPr/>
          <p:nvPr/>
        </p:nvSpPr>
        <p:spPr>
          <a:xfrm>
            <a:off x="4626864" y="3108960"/>
            <a:ext cx="6665976" cy="402336"/>
          </a:xfrm>
          <a:prstGeom prst="rect">
            <a:avLst/>
          </a:prstGeom>
          <a:noFill/>
          <a:ln/>
        </p:spPr>
        <p:txBody>
          <a:bodyPr wrap="square" lIns="0" tIns="0" rIns="0" bIns="0" rtlCol="0" anchor="ctr"/>
          <a:lstStyle/>
          <a:p>
            <a:pPr indent="0" marL="0">
              <a:buNone/>
            </a:pPr>
            <a:r>
              <a:rPr lang="en-US" sz="1250" dirty="0">
                <a:solidFill>
                  <a:srgbClr val="64748B"/>
                </a:solidFill>
                <a:latin typeface="Pretendard" pitchFamily="34" charset="0"/>
                <a:ea typeface="Pretendard" pitchFamily="34" charset="-122"/>
                <a:cs typeface="Pretendard" pitchFamily="34" charset="-120"/>
              </a:rPr>
              <a:t>무슨 일을 얼마나 했는지 — 잔디·연속기록으로 시각화</a:t>
            </a:r>
            <a:endParaRPr lang="en-US" sz="1250" dirty="0"/>
          </a:p>
        </p:txBody>
      </p:sp>
      <p:sp>
        <p:nvSpPr>
          <p:cNvPr id="10" name="Shape 7"/>
          <p:cNvSpPr/>
          <p:nvPr/>
        </p:nvSpPr>
        <p:spPr>
          <a:xfrm>
            <a:off x="3566160" y="3840480"/>
            <a:ext cx="8001000" cy="914400"/>
          </a:xfrm>
          <a:prstGeom prst="roundRect">
            <a:avLst>
              <a:gd name="adj" fmla="val 10000"/>
            </a:avLst>
          </a:prstGeom>
          <a:solidFill>
            <a:srgbClr val="FFFFFF"/>
          </a:solidFill>
          <a:ln/>
          <a:effectLst>
            <a:outerShdw sx="100000" sy="100000" kx="0" ky="0" algn="bl" rotWithShape="0" blurRad="101600" dist="25400" dir="5400000">
              <a:srgbClr val="000000">
                <a:alpha val="10000"/>
              </a:srgbClr>
            </a:outerShdw>
          </a:effectLst>
        </p:spPr>
      </p:sp>
      <p:sp>
        <p:nvSpPr>
          <p:cNvPr id="11" name="Shape 8"/>
          <p:cNvSpPr/>
          <p:nvPr/>
        </p:nvSpPr>
        <p:spPr>
          <a:xfrm>
            <a:off x="3803904" y="4023360"/>
            <a:ext cx="548640" cy="548640"/>
          </a:xfrm>
          <a:prstGeom prst="ellipse">
            <a:avLst/>
          </a:prstGeom>
          <a:solidFill>
            <a:srgbClr val="EEF0FF"/>
          </a:solidFill>
          <a:ln/>
        </p:spPr>
      </p:sp>
      <p:pic>
        <p:nvPicPr>
          <p:cNvPr id="12" name="Image 1" descr="preencoded.png">    </p:cNvPr>
          <p:cNvPicPr>
            <a:picLocks noChangeAspect="1"/>
          </p:cNvPicPr>
          <p:nvPr/>
        </p:nvPicPr>
        <p:blipFill>
          <a:blip r:embed="rId2"/>
          <a:stretch>
            <a:fillRect/>
          </a:stretch>
        </p:blipFill>
        <p:spPr>
          <a:xfrm>
            <a:off x="3941064" y="4160520"/>
            <a:ext cx="274320" cy="274320"/>
          </a:xfrm>
          <a:prstGeom prst="rect">
            <a:avLst/>
          </a:prstGeom>
        </p:spPr>
      </p:pic>
      <p:sp>
        <p:nvSpPr>
          <p:cNvPr id="13" name="Text 9"/>
          <p:cNvSpPr/>
          <p:nvPr/>
        </p:nvSpPr>
        <p:spPr>
          <a:xfrm>
            <a:off x="4626864" y="3968496"/>
            <a:ext cx="6665976" cy="438912"/>
          </a:xfrm>
          <a:prstGeom prst="rect">
            <a:avLst/>
          </a:prstGeom>
          <a:noFill/>
          <a:ln/>
        </p:spPr>
        <p:txBody>
          <a:bodyPr wrap="square" lIns="0" tIns="0" rIns="0" bIns="0" rtlCol="0" anchor="ctr"/>
          <a:lstStyle/>
          <a:p>
            <a:pPr indent="0" marL="0">
              <a:buNone/>
            </a:pPr>
            <a:r>
              <a:rPr lang="en-US" sz="1650" b="1" dirty="0">
                <a:solidFill>
                  <a:srgbClr val="1E293B"/>
                </a:solidFill>
                <a:latin typeface="Pretendard" pitchFamily="34" charset="0"/>
                <a:ea typeface="Pretendard" pitchFamily="34" charset="-122"/>
                <a:cs typeface="Pretendard" pitchFamily="34" charset="-120"/>
              </a:rPr>
              <a:t>팀원끼리 익명으로 평가합니다</a:t>
            </a:r>
            <a:endParaRPr lang="en-US" sz="1650" dirty="0"/>
          </a:p>
        </p:txBody>
      </p:sp>
      <p:sp>
        <p:nvSpPr>
          <p:cNvPr id="14" name="Text 10"/>
          <p:cNvSpPr/>
          <p:nvPr/>
        </p:nvSpPr>
        <p:spPr>
          <a:xfrm>
            <a:off x="4626864" y="4206240"/>
            <a:ext cx="6665976" cy="402336"/>
          </a:xfrm>
          <a:prstGeom prst="rect">
            <a:avLst/>
          </a:prstGeom>
          <a:noFill/>
          <a:ln/>
        </p:spPr>
        <p:txBody>
          <a:bodyPr wrap="square" lIns="0" tIns="0" rIns="0" bIns="0" rtlCol="0" anchor="ctr"/>
          <a:lstStyle/>
          <a:p>
            <a:pPr indent="0" marL="0">
              <a:buNone/>
            </a:pPr>
            <a:r>
              <a:rPr lang="en-US" sz="1250" dirty="0">
                <a:solidFill>
                  <a:srgbClr val="64748B"/>
                </a:solidFill>
                <a:latin typeface="Pretendard" pitchFamily="34" charset="0"/>
                <a:ea typeface="Pretendard" pitchFamily="34" charset="-122"/>
                <a:cs typeface="Pretendard" pitchFamily="34" charset="-120"/>
              </a:rPr>
              <a:t>기여도·책임감·협업·소통 4개 항목</a:t>
            </a:r>
            <a:endParaRPr lang="en-US" sz="1250" dirty="0"/>
          </a:p>
        </p:txBody>
      </p:sp>
      <p:sp>
        <p:nvSpPr>
          <p:cNvPr id="15" name="Shape 11"/>
          <p:cNvSpPr/>
          <p:nvPr/>
        </p:nvSpPr>
        <p:spPr>
          <a:xfrm>
            <a:off x="3566160" y="4937760"/>
            <a:ext cx="8001000" cy="914400"/>
          </a:xfrm>
          <a:prstGeom prst="roundRect">
            <a:avLst>
              <a:gd name="adj" fmla="val 10000"/>
            </a:avLst>
          </a:prstGeom>
          <a:solidFill>
            <a:srgbClr val="FFFFFF"/>
          </a:solidFill>
          <a:ln/>
          <a:effectLst>
            <a:outerShdw sx="100000" sy="100000" kx="0" ky="0" algn="bl" rotWithShape="0" blurRad="101600" dist="25400" dir="5400000">
              <a:srgbClr val="000000">
                <a:alpha val="10000"/>
              </a:srgbClr>
            </a:outerShdw>
          </a:effectLst>
        </p:spPr>
      </p:sp>
      <p:sp>
        <p:nvSpPr>
          <p:cNvPr id="16" name="Shape 12"/>
          <p:cNvSpPr/>
          <p:nvPr/>
        </p:nvSpPr>
        <p:spPr>
          <a:xfrm>
            <a:off x="3803904" y="5120640"/>
            <a:ext cx="548640" cy="548640"/>
          </a:xfrm>
          <a:prstGeom prst="ellipse">
            <a:avLst/>
          </a:prstGeom>
          <a:solidFill>
            <a:srgbClr val="EEF0FF"/>
          </a:solidFill>
          <a:ln/>
        </p:spPr>
      </p:sp>
      <p:pic>
        <p:nvPicPr>
          <p:cNvPr id="17" name="Image 2" descr="preencoded.png">    </p:cNvPr>
          <p:cNvPicPr>
            <a:picLocks noChangeAspect="1"/>
          </p:cNvPicPr>
          <p:nvPr/>
        </p:nvPicPr>
        <p:blipFill>
          <a:blip r:embed="rId3"/>
          <a:stretch>
            <a:fillRect/>
          </a:stretch>
        </p:blipFill>
        <p:spPr>
          <a:xfrm>
            <a:off x="3941064" y="5257800"/>
            <a:ext cx="274320" cy="274320"/>
          </a:xfrm>
          <a:prstGeom prst="rect">
            <a:avLst/>
          </a:prstGeom>
        </p:spPr>
      </p:pic>
      <p:sp>
        <p:nvSpPr>
          <p:cNvPr id="18" name="Text 13"/>
          <p:cNvSpPr/>
          <p:nvPr/>
        </p:nvSpPr>
        <p:spPr>
          <a:xfrm>
            <a:off x="4626864" y="5065776"/>
            <a:ext cx="6665976" cy="438912"/>
          </a:xfrm>
          <a:prstGeom prst="rect">
            <a:avLst/>
          </a:prstGeom>
          <a:noFill/>
          <a:ln/>
        </p:spPr>
        <p:txBody>
          <a:bodyPr wrap="square" lIns="0" tIns="0" rIns="0" bIns="0" rtlCol="0" anchor="ctr"/>
          <a:lstStyle/>
          <a:p>
            <a:pPr indent="0" marL="0">
              <a:buNone/>
            </a:pPr>
            <a:r>
              <a:rPr lang="en-US" sz="1650" b="1" dirty="0">
                <a:solidFill>
                  <a:srgbClr val="1E293B"/>
                </a:solidFill>
                <a:latin typeface="Pretendard" pitchFamily="34" charset="0"/>
                <a:ea typeface="Pretendard" pitchFamily="34" charset="-122"/>
                <a:cs typeface="Pretendard" pitchFamily="34" charset="-120"/>
              </a:rPr>
              <a:t>AI가 교차검증해 리포트를 만듭니다</a:t>
            </a:r>
            <a:endParaRPr lang="en-US" sz="1650" dirty="0"/>
          </a:p>
        </p:txBody>
      </p:sp>
      <p:sp>
        <p:nvSpPr>
          <p:cNvPr id="19" name="Text 14"/>
          <p:cNvSpPr/>
          <p:nvPr/>
        </p:nvSpPr>
        <p:spPr>
          <a:xfrm>
            <a:off x="4626864" y="5303520"/>
            <a:ext cx="6665976" cy="402336"/>
          </a:xfrm>
          <a:prstGeom prst="rect">
            <a:avLst/>
          </a:prstGeom>
          <a:noFill/>
          <a:ln/>
        </p:spPr>
        <p:txBody>
          <a:bodyPr wrap="square" lIns="0" tIns="0" rIns="0" bIns="0" rtlCol="0" anchor="ctr"/>
          <a:lstStyle/>
          <a:p>
            <a:pPr indent="0" marL="0">
              <a:buNone/>
            </a:pPr>
            <a:r>
              <a:rPr lang="en-US" sz="1250" dirty="0">
                <a:solidFill>
                  <a:srgbClr val="64748B"/>
                </a:solidFill>
                <a:latin typeface="Pretendard" pitchFamily="34" charset="0"/>
                <a:ea typeface="Pretendard" pitchFamily="34" charset="-122"/>
                <a:cs typeface="Pretendard" pitchFamily="34" charset="-120"/>
              </a:rPr>
              <a:t>본인 기록과 동료평가를 대조해 근거 문서 생성</a:t>
            </a:r>
            <a:endParaRPr lang="en-US" sz="1250" dirty="0"/>
          </a:p>
        </p:txBody>
      </p:sp>
      <p:sp>
        <p:nvSpPr>
          <p:cNvPr id="20" name="Shape 15"/>
          <p:cNvSpPr/>
          <p:nvPr/>
        </p:nvSpPr>
        <p:spPr>
          <a:xfrm>
            <a:off x="3566160" y="6071616"/>
            <a:ext cx="8001000" cy="475488"/>
          </a:xfrm>
          <a:prstGeom prst="roundRect">
            <a:avLst>
              <a:gd name="adj" fmla="val 19231"/>
            </a:avLst>
          </a:prstGeom>
          <a:solidFill>
            <a:srgbClr val="4F46E5"/>
          </a:solidFill>
          <a:ln/>
        </p:spPr>
      </p:sp>
      <p:sp>
        <p:nvSpPr>
          <p:cNvPr id="21" name="Text 16"/>
          <p:cNvSpPr/>
          <p:nvPr/>
        </p:nvSpPr>
        <p:spPr>
          <a:xfrm>
            <a:off x="3566160" y="6071616"/>
            <a:ext cx="8001000" cy="475488"/>
          </a:xfrm>
          <a:prstGeom prst="rect">
            <a:avLst/>
          </a:prstGeom>
          <a:noFill/>
          <a:ln/>
        </p:spPr>
        <p:txBody>
          <a:bodyPr wrap="square" lIns="0" tIns="0" rIns="0" bIns="0" rtlCol="0" anchor="ctr"/>
          <a:lstStyle/>
          <a:p>
            <a:pPr algn="ctr" indent="0" marL="0">
              <a:buNone/>
            </a:pPr>
            <a:r>
              <a:rPr lang="en-US" sz="1450" b="1" dirty="0">
                <a:solidFill>
                  <a:srgbClr val="FFFFFF"/>
                </a:solidFill>
                <a:latin typeface="Pretendard" pitchFamily="34" charset="0"/>
                <a:ea typeface="Pretendard" pitchFamily="34" charset="-122"/>
                <a:cs typeface="Pretendard" pitchFamily="34" charset="-120"/>
              </a:rPr>
              <a:t>정리된 근거가 교수님 대시보드에 표시됩니다</a:t>
            </a:r>
            <a:endParaRPr lang="en-US" sz="1450" dirty="0"/>
          </a:p>
        </p:txBody>
      </p:sp>
      <p:sp>
        <p:nvSpPr>
          <p:cNvPr id="22" name="Shape 17"/>
          <p:cNvSpPr/>
          <p:nvPr/>
        </p:nvSpPr>
        <p:spPr>
          <a:xfrm>
            <a:off x="566928" y="502920"/>
            <a:ext cx="2715672" cy="5806440"/>
          </a:xfrm>
          <a:prstGeom prst="roundRect">
            <a:avLst>
              <a:gd name="adj" fmla="val 12795"/>
            </a:avLst>
          </a:prstGeom>
          <a:solidFill>
            <a:srgbClr val="0B0B11"/>
          </a:solidFill>
          <a:ln/>
          <a:effectLst>
            <a:outerShdw sx="100000" sy="100000" kx="0" ky="0" algn="bl" rotWithShape="0" blurRad="165100" dist="63500" dir="5400000">
              <a:srgbClr val="000000">
                <a:alpha val="28000"/>
              </a:srgbClr>
            </a:outerShdw>
          </a:effectLst>
        </p:spPr>
      </p:sp>
      <p:pic>
        <p:nvPicPr>
          <p:cNvPr id="23" name="Image 3" descr="C:/Users/HP15~1/AppData/Local/Temp/claude/C--Users-HP-15-Desktop-Hackathon/e11a162a-fd90-4cff-922b-c82073c29db3/scratchpad/deck/assets/dev_home.png">    </p:cNvPr>
          <p:cNvPicPr>
            <a:picLocks noChangeAspect="1"/>
          </p:cNvPicPr>
          <p:nvPr/>
        </p:nvPicPr>
        <p:blipFill>
          <a:blip r:embed="rId4"/>
          <a:stretch>
            <a:fillRect/>
          </a:stretch>
        </p:blipFill>
        <p:spPr>
          <a:xfrm>
            <a:off x="566928" y="502920"/>
            <a:ext cx="2715672" cy="5806440"/>
          </a:xfrm>
          <a:prstGeom prst="rect">
            <a:avLst/>
          </a:prstGeom>
        </p:spPr>
      </p:pic>
      <p:sp>
        <p:nvSpPr>
          <p:cNvPr id="24" name="Text 18"/>
          <p:cNvSpPr/>
          <p:nvPr/>
        </p:nvSpPr>
        <p:spPr>
          <a:xfrm>
            <a:off x="548640" y="6528816"/>
            <a:ext cx="7315200" cy="256032"/>
          </a:xfrm>
          <a:prstGeom prst="rect">
            <a:avLst/>
          </a:prstGeom>
          <a:noFill/>
          <a:ln/>
        </p:spPr>
        <p:txBody>
          <a:bodyPr wrap="square" lIns="0" tIns="0" rIns="0" bIns="0" rtlCol="0" anchor="ctr"/>
          <a:lstStyle/>
          <a:p>
            <a:pPr indent="0" marL="0">
              <a:buNone/>
            </a:pPr>
            <a:r>
              <a:rPr lang="en-US" sz="900" dirty="0">
                <a:solidFill>
                  <a:srgbClr val="94A3B8"/>
                </a:solidFill>
                <a:latin typeface="Pretendard" pitchFamily="34" charset="0"/>
                <a:ea typeface="Pretendard" pitchFamily="34" charset="-122"/>
                <a:cs typeface="Pretendard" pitchFamily="34" charset="-120"/>
              </a:rPr>
              <a:t>N분의1  ·  팀 프로젝트 기여도 증명·관리 플랫폼</a:t>
            </a:r>
            <a:endParaRPr lang="en-US" sz="900" dirty="0"/>
          </a:p>
        </p:txBody>
      </p:sp>
      <p:sp>
        <p:nvSpPr>
          <p:cNvPr id="25" name="Text 19"/>
          <p:cNvSpPr/>
          <p:nvPr/>
        </p:nvSpPr>
        <p:spPr>
          <a:xfrm>
            <a:off x="9966960" y="6528816"/>
            <a:ext cx="1673352" cy="256032"/>
          </a:xfrm>
          <a:prstGeom prst="rect">
            <a:avLst/>
          </a:prstGeom>
          <a:noFill/>
          <a:ln/>
        </p:spPr>
        <p:txBody>
          <a:bodyPr wrap="square" lIns="0" tIns="0" rIns="0" bIns="0" rtlCol="0" anchor="ctr"/>
          <a:lstStyle/>
          <a:p>
            <a:pPr algn="r" indent="0" marL="0">
              <a:buNone/>
            </a:pPr>
            <a:r>
              <a:rPr lang="en-US" sz="900" dirty="0">
                <a:solidFill>
                  <a:srgbClr val="94A3B8"/>
                </a:solidFill>
                <a:latin typeface="Pretendard" pitchFamily="34" charset="0"/>
                <a:ea typeface="Pretendard" pitchFamily="34" charset="-122"/>
                <a:cs typeface="Pretendard" pitchFamily="34" charset="-120"/>
              </a:rPr>
              <a:t>03  /  05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566160" y="566928"/>
            <a:ext cx="8229600" cy="310896"/>
          </a:xfrm>
          <a:prstGeom prst="rect">
            <a:avLst/>
          </a:prstGeom>
          <a:noFill/>
          <a:ln/>
        </p:spPr>
        <p:txBody>
          <a:bodyPr wrap="square" lIns="0" tIns="0" rIns="0" bIns="0" rtlCol="0" anchor="ctr"/>
          <a:lstStyle/>
          <a:p>
            <a:pPr indent="0" marL="0">
              <a:buNone/>
            </a:pPr>
            <a:r>
              <a:rPr lang="en-US" sz="1100" b="1" dirty="0">
                <a:solidFill>
                  <a:srgbClr val="4F46E5"/>
                </a:solidFill>
                <a:latin typeface="Pretendard" pitchFamily="34" charset="0"/>
                <a:ea typeface="Pretendard" pitchFamily="34" charset="-122"/>
                <a:cs typeface="Pretendard" pitchFamily="34" charset="-120"/>
              </a:rPr>
              <a:t>●  </a:t>
            </a:r>
            <a:pPr indent="0" marL="0">
              <a:buNone/>
            </a:pPr>
            <a:r>
              <a:rPr lang="en-US" sz="1250" b="1" spc="100" kern="0" dirty="0">
                <a:solidFill>
                  <a:srgbClr val="4F46E5"/>
                </a:solidFill>
                <a:latin typeface="Pretendard" pitchFamily="34" charset="0"/>
                <a:ea typeface="Pretendard" pitchFamily="34" charset="-122"/>
                <a:cs typeface="Pretendard" pitchFamily="34" charset="-120"/>
              </a:rPr>
              <a:t>FEATURES · 주요 기능</a:t>
            </a:r>
            <a:endParaRPr lang="en-US" sz="1100" dirty="0"/>
          </a:p>
        </p:txBody>
      </p:sp>
      <p:sp>
        <p:nvSpPr>
          <p:cNvPr id="3" name="Text 1"/>
          <p:cNvSpPr/>
          <p:nvPr/>
        </p:nvSpPr>
        <p:spPr>
          <a:xfrm>
            <a:off x="3566160" y="914400"/>
            <a:ext cx="8001000" cy="1371600"/>
          </a:xfrm>
          <a:prstGeom prst="rect">
            <a:avLst/>
          </a:prstGeom>
          <a:noFill/>
          <a:ln/>
        </p:spPr>
        <p:txBody>
          <a:bodyPr wrap="square" lIns="0" tIns="0" rIns="0" bIns="0" rtlCol="0" anchor="t"/>
          <a:lstStyle/>
          <a:p>
            <a:pPr algn="l" indent="0" marL="0">
              <a:lnSpc>
                <a:spcPct val="103000"/>
              </a:lnSpc>
              <a:buNone/>
            </a:pPr>
            <a:r>
              <a:rPr lang="en-US" sz="3200" b="1" spc="-30" kern="0" dirty="0">
                <a:solidFill>
                  <a:srgbClr val="1E293B"/>
                </a:solidFill>
                <a:latin typeface="Pretendard" pitchFamily="34" charset="0"/>
                <a:ea typeface="Pretendard" pitchFamily="34" charset="-122"/>
                <a:cs typeface="Pretendard" pitchFamily="34" charset="-120"/>
              </a:rPr>
              <a:t>학생의 기록부터</a:t>
            </a:r>
            <a:endParaRPr lang="en-US" sz="3200" dirty="0"/>
          </a:p>
          <a:p>
            <a:pPr algn="l" indent="0" marL="0">
              <a:lnSpc>
                <a:spcPct val="103000"/>
              </a:lnSpc>
              <a:buNone/>
            </a:pPr>
            <a:r>
              <a:rPr lang="en-US" sz="3200" b="1" spc="-30" kern="0" dirty="0">
                <a:solidFill>
                  <a:srgbClr val="4F46E5"/>
                </a:solidFill>
                <a:latin typeface="Pretendard" pitchFamily="34" charset="0"/>
                <a:ea typeface="Pretendard" pitchFamily="34" charset="-122"/>
                <a:cs typeface="Pretendard" pitchFamily="34" charset="-120"/>
              </a:rPr>
              <a:t>교수의 평가까지</a:t>
            </a:r>
            <a:pPr algn="l" indent="0" marL="0">
              <a:lnSpc>
                <a:spcPct val="103000"/>
              </a:lnSpc>
              <a:buNone/>
            </a:pPr>
            <a:r>
              <a:rPr lang="en-US" sz="3200" b="1" spc="-30" kern="0" dirty="0">
                <a:solidFill>
                  <a:srgbClr val="1E293B"/>
                </a:solidFill>
                <a:latin typeface="Pretendard" pitchFamily="34" charset="0"/>
                <a:ea typeface="Pretendard" pitchFamily="34" charset="-122"/>
                <a:cs typeface="Pretendard" pitchFamily="34" charset="-120"/>
              </a:rPr>
              <a:t>, 한 앱에서</a:t>
            </a:r>
            <a:endParaRPr lang="en-US" sz="3200" dirty="0"/>
          </a:p>
        </p:txBody>
      </p:sp>
      <p:sp>
        <p:nvSpPr>
          <p:cNvPr id="4" name="Shape 2"/>
          <p:cNvSpPr/>
          <p:nvPr/>
        </p:nvSpPr>
        <p:spPr>
          <a:xfrm>
            <a:off x="3566160" y="2286000"/>
            <a:ext cx="8001000" cy="1700784"/>
          </a:xfrm>
          <a:prstGeom prst="roundRect">
            <a:avLst>
              <a:gd name="adj" fmla="val 5376"/>
            </a:avLst>
          </a:prstGeom>
          <a:solidFill>
            <a:srgbClr val="FFFFFF"/>
          </a:solidFill>
          <a:ln/>
          <a:effectLst>
            <a:outerShdw sx="100000" sy="100000" kx="0" ky="0" algn="bl" rotWithShape="0" blurRad="101600" dist="25400" dir="5400000">
              <a:srgbClr val="000000">
                <a:alpha val="10000"/>
              </a:srgbClr>
            </a:outerShdw>
          </a:effectLst>
        </p:spPr>
      </p:sp>
      <p:sp>
        <p:nvSpPr>
          <p:cNvPr id="5" name="Shape 3"/>
          <p:cNvSpPr/>
          <p:nvPr/>
        </p:nvSpPr>
        <p:spPr>
          <a:xfrm>
            <a:off x="3822192" y="2523744"/>
            <a:ext cx="512064" cy="512064"/>
          </a:xfrm>
          <a:prstGeom prst="ellipse">
            <a:avLst/>
          </a:prstGeom>
          <a:solidFill>
            <a:srgbClr val="EEF0FF"/>
          </a:solidFill>
          <a:ln/>
        </p:spPr>
      </p:sp>
      <p:pic>
        <p:nvPicPr>
          <p:cNvPr id="6" name="Image 0" descr="preencoded.png">    </p:cNvPr>
          <p:cNvPicPr>
            <a:picLocks noChangeAspect="1"/>
          </p:cNvPicPr>
          <p:nvPr/>
        </p:nvPicPr>
        <p:blipFill>
          <a:blip r:embed="rId1"/>
          <a:stretch>
            <a:fillRect/>
          </a:stretch>
        </p:blipFill>
        <p:spPr>
          <a:xfrm>
            <a:off x="3950208" y="2651760"/>
            <a:ext cx="256032" cy="256032"/>
          </a:xfrm>
          <a:prstGeom prst="rect">
            <a:avLst/>
          </a:prstGeom>
        </p:spPr>
      </p:pic>
      <p:sp>
        <p:nvSpPr>
          <p:cNvPr id="7" name="Text 4"/>
          <p:cNvSpPr/>
          <p:nvPr/>
        </p:nvSpPr>
        <p:spPr>
          <a:xfrm>
            <a:off x="4535424" y="2487168"/>
            <a:ext cx="6720840" cy="457200"/>
          </a:xfrm>
          <a:prstGeom prst="rect">
            <a:avLst/>
          </a:prstGeom>
          <a:noFill/>
          <a:ln/>
        </p:spPr>
        <p:txBody>
          <a:bodyPr wrap="square" lIns="0" tIns="0" rIns="0" bIns="0" rtlCol="0" anchor="ctr"/>
          <a:lstStyle/>
          <a:p>
            <a:pPr indent="0" marL="0">
              <a:buNone/>
            </a:pPr>
            <a:r>
              <a:rPr lang="en-US" sz="1600" b="1" dirty="0">
                <a:solidFill>
                  <a:srgbClr val="1E293B"/>
                </a:solidFill>
                <a:latin typeface="Pretendard" pitchFamily="34" charset="0"/>
                <a:ea typeface="Pretendard" pitchFamily="34" charset="-122"/>
                <a:cs typeface="Pretendard" pitchFamily="34" charset="-120"/>
              </a:rPr>
              <a:t>학생 화면</a:t>
            </a:r>
            <a:endParaRPr lang="en-US" sz="1600" dirty="0"/>
          </a:p>
        </p:txBody>
      </p:sp>
      <p:sp>
        <p:nvSpPr>
          <p:cNvPr id="8" name="Text 5"/>
          <p:cNvSpPr/>
          <p:nvPr/>
        </p:nvSpPr>
        <p:spPr>
          <a:xfrm>
            <a:off x="3886200" y="3072384"/>
            <a:ext cx="7360920" cy="7863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64748B"/>
                </a:solidFill>
                <a:latin typeface="Pretendard" pitchFamily="34" charset="0"/>
                <a:ea typeface="Pretendard" pitchFamily="34" charset="-122"/>
                <a:cs typeface="Pretendard" pitchFamily="34" charset="-120"/>
              </a:rPr>
              <a:t>활동 기록 — 기여 잔디·연속기록으로 시각화</a:t>
            </a:r>
            <a:endParaRPr lang="en-US" sz="1300" dirty="0"/>
          </a:p>
          <a:p>
            <a:pPr marL="177800" indent="-177800">
              <a:spcAft>
                <a:spcPts val="400"/>
              </a:spcAft>
              <a:buSzPct val="100000"/>
              <a:buChar char="•"/>
            </a:pPr>
            <a:r>
              <a:rPr lang="en-US" sz="1300" dirty="0">
                <a:solidFill>
                  <a:srgbClr val="64748B"/>
                </a:solidFill>
                <a:latin typeface="Pretendard" pitchFamily="34" charset="0"/>
                <a:ea typeface="Pretendard" pitchFamily="34" charset="-122"/>
                <a:cs typeface="Pretendard" pitchFamily="34" charset="-120"/>
              </a:rPr>
              <a:t>익명 동료평가 · 산출물(발표자료·코드) 업로드</a:t>
            </a:r>
            <a:endParaRPr lang="en-US" sz="1300" dirty="0"/>
          </a:p>
        </p:txBody>
      </p:sp>
      <p:sp>
        <p:nvSpPr>
          <p:cNvPr id="9" name="Shape 6"/>
          <p:cNvSpPr/>
          <p:nvPr/>
        </p:nvSpPr>
        <p:spPr>
          <a:xfrm>
            <a:off x="3566160" y="4114800"/>
            <a:ext cx="8001000" cy="2121408"/>
          </a:xfrm>
          <a:prstGeom prst="roundRect">
            <a:avLst>
              <a:gd name="adj" fmla="val 4310"/>
            </a:avLst>
          </a:prstGeom>
          <a:solidFill>
            <a:srgbClr val="FFFFFF"/>
          </a:solidFill>
          <a:ln/>
          <a:effectLst>
            <a:outerShdw sx="100000" sy="100000" kx="0" ky="0" algn="bl" rotWithShape="0" blurRad="101600" dist="25400" dir="5400000">
              <a:srgbClr val="000000">
                <a:alpha val="10000"/>
              </a:srgbClr>
            </a:outerShdw>
          </a:effectLst>
        </p:spPr>
      </p:sp>
      <p:sp>
        <p:nvSpPr>
          <p:cNvPr id="10" name="Shape 7"/>
          <p:cNvSpPr/>
          <p:nvPr/>
        </p:nvSpPr>
        <p:spPr>
          <a:xfrm>
            <a:off x="3822192" y="4352544"/>
            <a:ext cx="512064" cy="512064"/>
          </a:xfrm>
          <a:prstGeom prst="ellipse">
            <a:avLst/>
          </a:prstGeom>
          <a:solidFill>
            <a:srgbClr val="EEF0FF"/>
          </a:solidFill>
          <a:ln/>
        </p:spPr>
      </p:sp>
      <p:pic>
        <p:nvPicPr>
          <p:cNvPr id="11" name="Image 1" descr="preencoded.png">    </p:cNvPr>
          <p:cNvPicPr>
            <a:picLocks noChangeAspect="1"/>
          </p:cNvPicPr>
          <p:nvPr/>
        </p:nvPicPr>
        <p:blipFill>
          <a:blip r:embed="rId2"/>
          <a:stretch>
            <a:fillRect/>
          </a:stretch>
        </p:blipFill>
        <p:spPr>
          <a:xfrm>
            <a:off x="3950208" y="4480560"/>
            <a:ext cx="256032" cy="256032"/>
          </a:xfrm>
          <a:prstGeom prst="rect">
            <a:avLst/>
          </a:prstGeom>
        </p:spPr>
      </p:pic>
      <p:sp>
        <p:nvSpPr>
          <p:cNvPr id="12" name="Text 8"/>
          <p:cNvSpPr/>
          <p:nvPr/>
        </p:nvSpPr>
        <p:spPr>
          <a:xfrm>
            <a:off x="4535424" y="4315968"/>
            <a:ext cx="6720840" cy="457200"/>
          </a:xfrm>
          <a:prstGeom prst="rect">
            <a:avLst/>
          </a:prstGeom>
          <a:noFill/>
          <a:ln/>
        </p:spPr>
        <p:txBody>
          <a:bodyPr wrap="square" lIns="0" tIns="0" rIns="0" bIns="0" rtlCol="0" anchor="ctr"/>
          <a:lstStyle/>
          <a:p>
            <a:pPr indent="0" marL="0">
              <a:buNone/>
            </a:pPr>
            <a:r>
              <a:rPr lang="en-US" sz="1600" b="1" dirty="0">
                <a:solidFill>
                  <a:srgbClr val="1E293B"/>
                </a:solidFill>
                <a:latin typeface="Pretendard" pitchFamily="34" charset="0"/>
                <a:ea typeface="Pretendard" pitchFamily="34" charset="-122"/>
                <a:cs typeface="Pretendard" pitchFamily="34" charset="-120"/>
              </a:rPr>
              <a:t>교수 화면</a:t>
            </a:r>
            <a:endParaRPr lang="en-US" sz="1600" dirty="0"/>
          </a:p>
        </p:txBody>
      </p:sp>
      <p:sp>
        <p:nvSpPr>
          <p:cNvPr id="13" name="Text 9"/>
          <p:cNvSpPr/>
          <p:nvPr/>
        </p:nvSpPr>
        <p:spPr>
          <a:xfrm>
            <a:off x="3886200" y="4901184"/>
            <a:ext cx="7360920" cy="1207008"/>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64748B"/>
                </a:solidFill>
                <a:latin typeface="Pretendard" pitchFamily="34" charset="0"/>
                <a:ea typeface="Pretendard" pitchFamily="34" charset="-122"/>
                <a:cs typeface="Pretendard" pitchFamily="34" charset="-120"/>
              </a:rPr>
              <a:t>팀·개인별 기여도 대시보드 (차트로 한눈에)</a:t>
            </a:r>
            <a:endParaRPr lang="en-US" sz="1300" dirty="0"/>
          </a:p>
          <a:p>
            <a:pPr marL="177800" indent="-177800">
              <a:spcAft>
                <a:spcPts val="400"/>
              </a:spcAft>
              <a:buSzPct val="100000"/>
              <a:buChar char="•"/>
            </a:pPr>
            <a:r>
              <a:rPr lang="en-US" sz="1300" dirty="0">
                <a:solidFill>
                  <a:srgbClr val="64748B"/>
                </a:solidFill>
                <a:latin typeface="Pretendard" pitchFamily="34" charset="0"/>
                <a:ea typeface="Pretendard" pitchFamily="34" charset="-122"/>
                <a:cs typeface="Pretendard" pitchFamily="34" charset="-120"/>
              </a:rPr>
              <a:t>교차검증 플래그 — 무임승차·불일치 자동 감지</a:t>
            </a:r>
            <a:endParaRPr lang="en-US" sz="1300" dirty="0"/>
          </a:p>
          <a:p>
            <a:pPr marL="177800" indent="-177800">
              <a:spcAft>
                <a:spcPts val="400"/>
              </a:spcAft>
              <a:buSzPct val="100000"/>
              <a:buChar char="•"/>
            </a:pPr>
            <a:r>
              <a:rPr lang="en-US" sz="1300" dirty="0">
                <a:solidFill>
                  <a:srgbClr val="64748B"/>
                </a:solidFill>
                <a:latin typeface="Pretendard" pitchFamily="34" charset="0"/>
                <a:ea typeface="Pretendard" pitchFamily="34" charset="-122"/>
                <a:cs typeface="Pretendard" pitchFamily="34" charset="-120"/>
              </a:rPr>
              <a:t>AI 기여도 리포트 자동 생성 (성적 근거)</a:t>
            </a:r>
            <a:endParaRPr lang="en-US" sz="1300" dirty="0"/>
          </a:p>
          <a:p>
            <a:pPr marL="177800" indent="-177800">
              <a:spcAft>
                <a:spcPts val="400"/>
              </a:spcAft>
              <a:buSzPct val="100000"/>
              <a:buChar char="•"/>
            </a:pPr>
            <a:r>
              <a:rPr lang="en-US" sz="1300" dirty="0">
                <a:solidFill>
                  <a:srgbClr val="64748B"/>
                </a:solidFill>
                <a:latin typeface="Pretendard" pitchFamily="34" charset="0"/>
                <a:ea typeface="Pretendard" pitchFamily="34" charset="-122"/>
                <a:cs typeface="Pretendard" pitchFamily="34" charset="-120"/>
              </a:rPr>
              <a:t>미니 LMS — 과목·마일스톤·제출 관리</a:t>
            </a:r>
            <a:endParaRPr lang="en-US" sz="1300" dirty="0"/>
          </a:p>
        </p:txBody>
      </p:sp>
      <p:sp>
        <p:nvSpPr>
          <p:cNvPr id="14" name="Shape 10"/>
          <p:cNvSpPr/>
          <p:nvPr/>
        </p:nvSpPr>
        <p:spPr>
          <a:xfrm>
            <a:off x="566928" y="502920"/>
            <a:ext cx="2715672" cy="5806440"/>
          </a:xfrm>
          <a:prstGeom prst="roundRect">
            <a:avLst>
              <a:gd name="adj" fmla="val 12795"/>
            </a:avLst>
          </a:prstGeom>
          <a:solidFill>
            <a:srgbClr val="0B0B11"/>
          </a:solidFill>
          <a:ln/>
          <a:effectLst>
            <a:outerShdw sx="100000" sy="100000" kx="0" ky="0" algn="bl" rotWithShape="0" blurRad="165100" dist="63500" dir="5400000">
              <a:srgbClr val="000000">
                <a:alpha val="28000"/>
              </a:srgbClr>
            </a:outerShdw>
          </a:effectLst>
        </p:spPr>
      </p:sp>
      <p:pic>
        <p:nvPicPr>
          <p:cNvPr id="15" name="Image 2" descr="C:/Users/HP15~1/AppData/Local/Temp/claude/C--Users-HP-15-Desktop-Hackathon/e11a162a-fd90-4cff-922b-c82073c29db3/scratchpad/deck/assets/dev_prof.png">    </p:cNvPr>
          <p:cNvPicPr>
            <a:picLocks noChangeAspect="1"/>
          </p:cNvPicPr>
          <p:nvPr/>
        </p:nvPicPr>
        <p:blipFill>
          <a:blip r:embed="rId3"/>
          <a:stretch>
            <a:fillRect/>
          </a:stretch>
        </p:blipFill>
        <p:spPr>
          <a:xfrm>
            <a:off x="566928" y="502920"/>
            <a:ext cx="2715672" cy="5806440"/>
          </a:xfrm>
          <a:prstGeom prst="rect">
            <a:avLst/>
          </a:prstGeom>
        </p:spPr>
      </p:pic>
      <p:sp>
        <p:nvSpPr>
          <p:cNvPr id="16" name="Text 11"/>
          <p:cNvSpPr/>
          <p:nvPr/>
        </p:nvSpPr>
        <p:spPr>
          <a:xfrm>
            <a:off x="548640" y="6528816"/>
            <a:ext cx="7315200" cy="256032"/>
          </a:xfrm>
          <a:prstGeom prst="rect">
            <a:avLst/>
          </a:prstGeom>
          <a:noFill/>
          <a:ln/>
        </p:spPr>
        <p:txBody>
          <a:bodyPr wrap="square" lIns="0" tIns="0" rIns="0" bIns="0" rtlCol="0" anchor="ctr"/>
          <a:lstStyle/>
          <a:p>
            <a:pPr indent="0" marL="0">
              <a:buNone/>
            </a:pPr>
            <a:r>
              <a:rPr lang="en-US" sz="900" dirty="0">
                <a:solidFill>
                  <a:srgbClr val="94A3B8"/>
                </a:solidFill>
                <a:latin typeface="Pretendard" pitchFamily="34" charset="0"/>
                <a:ea typeface="Pretendard" pitchFamily="34" charset="-122"/>
                <a:cs typeface="Pretendard" pitchFamily="34" charset="-120"/>
              </a:rPr>
              <a:t>N분의1  ·  팀 프로젝트 기여도 증명·관리 플랫폼</a:t>
            </a:r>
            <a:endParaRPr lang="en-US" sz="900" dirty="0"/>
          </a:p>
        </p:txBody>
      </p:sp>
      <p:sp>
        <p:nvSpPr>
          <p:cNvPr id="17" name="Text 12"/>
          <p:cNvSpPr/>
          <p:nvPr/>
        </p:nvSpPr>
        <p:spPr>
          <a:xfrm>
            <a:off x="9966960" y="6528816"/>
            <a:ext cx="1673352" cy="256032"/>
          </a:xfrm>
          <a:prstGeom prst="rect">
            <a:avLst/>
          </a:prstGeom>
          <a:noFill/>
          <a:ln/>
        </p:spPr>
        <p:txBody>
          <a:bodyPr wrap="square" lIns="0" tIns="0" rIns="0" bIns="0" rtlCol="0" anchor="ctr"/>
          <a:lstStyle/>
          <a:p>
            <a:pPr algn="r" indent="0" marL="0">
              <a:buNone/>
            </a:pPr>
            <a:r>
              <a:rPr lang="en-US" sz="900" dirty="0">
                <a:solidFill>
                  <a:srgbClr val="94A3B8"/>
                </a:solidFill>
                <a:latin typeface="Pretendard" pitchFamily="34" charset="0"/>
                <a:ea typeface="Pretendard" pitchFamily="34" charset="-122"/>
                <a:cs typeface="Pretendard" pitchFamily="34" charset="-120"/>
              </a:rPr>
              <a:t>04  /  05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566160" y="603504"/>
            <a:ext cx="8229600" cy="310896"/>
          </a:xfrm>
          <a:prstGeom prst="rect">
            <a:avLst/>
          </a:prstGeom>
          <a:noFill/>
          <a:ln/>
        </p:spPr>
        <p:txBody>
          <a:bodyPr wrap="square" lIns="0" tIns="0" rIns="0" bIns="0" rtlCol="0" anchor="ctr"/>
          <a:lstStyle/>
          <a:p>
            <a:pPr indent="0" marL="0">
              <a:buNone/>
            </a:pPr>
            <a:r>
              <a:rPr lang="en-US" sz="1100" b="1" dirty="0">
                <a:solidFill>
                  <a:srgbClr val="C7D2FE"/>
                </a:solidFill>
                <a:latin typeface="Pretendard" pitchFamily="34" charset="0"/>
                <a:ea typeface="Pretendard" pitchFamily="34" charset="-122"/>
                <a:cs typeface="Pretendard" pitchFamily="34" charset="-120"/>
              </a:rPr>
              <a:t>●  </a:t>
            </a:r>
            <a:pPr indent="0" marL="0">
              <a:buNone/>
            </a:pPr>
            <a:r>
              <a:rPr lang="en-US" sz="1250" b="1" spc="100" kern="0" dirty="0">
                <a:solidFill>
                  <a:srgbClr val="C7D2FE"/>
                </a:solidFill>
                <a:latin typeface="Pretendard" pitchFamily="34" charset="0"/>
                <a:ea typeface="Pretendard" pitchFamily="34" charset="-122"/>
                <a:cs typeface="Pretendard" pitchFamily="34" charset="-120"/>
              </a:rPr>
              <a:t>FOR PROFESSORS · 교수님께</a:t>
            </a:r>
            <a:endParaRPr lang="en-US" sz="1100" dirty="0"/>
          </a:p>
        </p:txBody>
      </p:sp>
      <p:sp>
        <p:nvSpPr>
          <p:cNvPr id="3" name="Text 1"/>
          <p:cNvSpPr/>
          <p:nvPr/>
        </p:nvSpPr>
        <p:spPr>
          <a:xfrm>
            <a:off x="3566160" y="969264"/>
            <a:ext cx="8001000" cy="1371600"/>
          </a:xfrm>
          <a:prstGeom prst="rect">
            <a:avLst/>
          </a:prstGeom>
          <a:noFill/>
          <a:ln/>
        </p:spPr>
        <p:txBody>
          <a:bodyPr wrap="square" lIns="0" tIns="0" rIns="0" bIns="0" rtlCol="0" anchor="t"/>
          <a:lstStyle/>
          <a:p>
            <a:pPr algn="l" indent="0" marL="0">
              <a:lnSpc>
                <a:spcPct val="103000"/>
              </a:lnSpc>
              <a:buNone/>
            </a:pPr>
            <a:r>
              <a:rPr lang="en-US" sz="3300" b="1" spc="-30" kern="0" dirty="0">
                <a:solidFill>
                  <a:srgbClr val="FFFFFF"/>
                </a:solidFill>
                <a:latin typeface="Pretendard" pitchFamily="34" charset="0"/>
                <a:ea typeface="Pretendard" pitchFamily="34" charset="-122"/>
                <a:cs typeface="Pretendard" pitchFamily="34" charset="-120"/>
              </a:rPr>
              <a:t>근거를 바탕으로,</a:t>
            </a:r>
            <a:endParaRPr lang="en-US" sz="3300" dirty="0"/>
          </a:p>
          <a:p>
            <a:pPr algn="l" indent="0" marL="0">
              <a:lnSpc>
                <a:spcPct val="103000"/>
              </a:lnSpc>
              <a:buNone/>
            </a:pPr>
            <a:r>
              <a:rPr lang="en-US" sz="3300" b="1" spc="-30" kern="0" dirty="0">
                <a:solidFill>
                  <a:srgbClr val="FCD34D"/>
                </a:solidFill>
                <a:latin typeface="Pretendard" pitchFamily="34" charset="0"/>
                <a:ea typeface="Pretendard" pitchFamily="34" charset="-122"/>
                <a:cs typeface="Pretendard" pitchFamily="34" charset="-120"/>
              </a:rPr>
              <a:t>더 공정한 평가</a:t>
            </a:r>
            <a:pPr algn="l" indent="0" marL="0">
              <a:lnSpc>
                <a:spcPct val="103000"/>
              </a:lnSpc>
              <a:buNone/>
            </a:pPr>
            <a:r>
              <a:rPr lang="en-US" sz="3300" b="1" spc="-30" kern="0" dirty="0">
                <a:solidFill>
                  <a:srgbClr val="FFFFFF"/>
                </a:solidFill>
                <a:latin typeface="Pretendard" pitchFamily="34" charset="0"/>
                <a:ea typeface="Pretendard" pitchFamily="34" charset="-122"/>
                <a:cs typeface="Pretendard" pitchFamily="34" charset="-120"/>
              </a:rPr>
              <a:t>를</a:t>
            </a:r>
            <a:endParaRPr lang="en-US" sz="3300" dirty="0"/>
          </a:p>
        </p:txBody>
      </p:sp>
      <p:sp>
        <p:nvSpPr>
          <p:cNvPr id="4" name="Text 2"/>
          <p:cNvSpPr/>
          <p:nvPr/>
        </p:nvSpPr>
        <p:spPr>
          <a:xfrm>
            <a:off x="3566160" y="2331720"/>
            <a:ext cx="8001000" cy="411480"/>
          </a:xfrm>
          <a:prstGeom prst="rect">
            <a:avLst/>
          </a:prstGeom>
          <a:noFill/>
          <a:ln/>
        </p:spPr>
        <p:txBody>
          <a:bodyPr wrap="square" lIns="0" tIns="0" rIns="0" bIns="0" rtlCol="0" anchor="ctr"/>
          <a:lstStyle/>
          <a:p>
            <a:pPr indent="0" marL="0">
              <a:buNone/>
            </a:pPr>
            <a:r>
              <a:rPr lang="en-US" sz="1550" dirty="0">
                <a:solidFill>
                  <a:srgbClr val="C7D2FE"/>
                </a:solidFill>
                <a:latin typeface="Pretendard" pitchFamily="34" charset="0"/>
                <a:ea typeface="Pretendard" pitchFamily="34" charset="-122"/>
                <a:cs typeface="Pretendard" pitchFamily="34" charset="-120"/>
              </a:rPr>
              <a:t>N분의1이 교수님께 드리는 것</a:t>
            </a:r>
            <a:endParaRPr lang="en-US" sz="1550" dirty="0"/>
          </a:p>
        </p:txBody>
      </p:sp>
      <p:sp>
        <p:nvSpPr>
          <p:cNvPr id="5" name="Shape 3"/>
          <p:cNvSpPr/>
          <p:nvPr/>
        </p:nvSpPr>
        <p:spPr>
          <a:xfrm>
            <a:off x="3566160" y="2880360"/>
            <a:ext cx="8001000" cy="877824"/>
          </a:xfrm>
          <a:prstGeom prst="roundRect">
            <a:avLst>
              <a:gd name="adj" fmla="val 10417"/>
            </a:avLst>
          </a:prstGeom>
          <a:solidFill>
            <a:srgbClr val="413C9A"/>
          </a:solidFill>
          <a:ln/>
        </p:spPr>
      </p:sp>
      <p:sp>
        <p:nvSpPr>
          <p:cNvPr id="6" name="Shape 4"/>
          <p:cNvSpPr/>
          <p:nvPr/>
        </p:nvSpPr>
        <p:spPr>
          <a:xfrm>
            <a:off x="3822192" y="3063240"/>
            <a:ext cx="512064" cy="512064"/>
          </a:xfrm>
          <a:prstGeom prst="ellipse">
            <a:avLst/>
          </a:prstGeom>
          <a:solidFill>
            <a:srgbClr val="5B54C9"/>
          </a:solidFill>
          <a:ln/>
        </p:spPr>
      </p:sp>
      <p:pic>
        <p:nvPicPr>
          <p:cNvPr id="7" name="Image 0" descr="preencoded.png">    </p:cNvPr>
          <p:cNvPicPr>
            <a:picLocks noChangeAspect="1"/>
          </p:cNvPicPr>
          <p:nvPr/>
        </p:nvPicPr>
        <p:blipFill>
          <a:blip r:embed="rId2"/>
          <a:stretch>
            <a:fillRect/>
          </a:stretch>
        </p:blipFill>
        <p:spPr>
          <a:xfrm>
            <a:off x="3950208" y="3191256"/>
            <a:ext cx="256032" cy="256032"/>
          </a:xfrm>
          <a:prstGeom prst="rect">
            <a:avLst/>
          </a:prstGeom>
        </p:spPr>
      </p:pic>
      <p:sp>
        <p:nvSpPr>
          <p:cNvPr id="8" name="Text 5"/>
          <p:cNvSpPr/>
          <p:nvPr/>
        </p:nvSpPr>
        <p:spPr>
          <a:xfrm>
            <a:off x="4553712" y="2880360"/>
            <a:ext cx="2468880" cy="877824"/>
          </a:xfrm>
          <a:prstGeom prst="rect">
            <a:avLst/>
          </a:prstGeom>
          <a:noFill/>
          <a:ln/>
        </p:spPr>
        <p:txBody>
          <a:bodyPr wrap="square" lIns="0" tIns="0" rIns="0" bIns="0" rtlCol="0" anchor="ctr"/>
          <a:lstStyle/>
          <a:p>
            <a:pPr indent="0" marL="0">
              <a:buNone/>
            </a:pPr>
            <a:r>
              <a:rPr lang="en-US" sz="1450" b="1" dirty="0">
                <a:solidFill>
                  <a:srgbClr val="C7D2FE"/>
                </a:solidFill>
                <a:latin typeface="Pretendard" pitchFamily="34" charset="0"/>
                <a:ea typeface="Pretendard" pitchFamily="34" charset="-122"/>
                <a:cs typeface="Pretendard" pitchFamily="34" charset="-120"/>
              </a:rPr>
              <a:t>기여도를 한눈에</a:t>
            </a:r>
            <a:endParaRPr lang="en-US" sz="1450" dirty="0"/>
          </a:p>
        </p:txBody>
      </p:sp>
      <p:sp>
        <p:nvSpPr>
          <p:cNvPr id="9" name="Text 6"/>
          <p:cNvSpPr/>
          <p:nvPr/>
        </p:nvSpPr>
        <p:spPr>
          <a:xfrm>
            <a:off x="6766560" y="2880360"/>
            <a:ext cx="4572000" cy="877824"/>
          </a:xfrm>
          <a:prstGeom prst="rect">
            <a:avLst/>
          </a:prstGeom>
          <a:noFill/>
          <a:ln/>
        </p:spPr>
        <p:txBody>
          <a:bodyPr wrap="square" lIns="0" tIns="0" rIns="0" bIns="0" rtlCol="0" anchor="ctr"/>
          <a:lstStyle/>
          <a:p>
            <a:pPr indent="0" marL="0">
              <a:buNone/>
            </a:pPr>
            <a:r>
              <a:rPr lang="en-US" sz="1350" dirty="0">
                <a:solidFill>
                  <a:srgbClr val="FFFFFF"/>
                </a:solidFill>
                <a:latin typeface="Pretendard" pitchFamily="34" charset="0"/>
                <a:ea typeface="Pretendard" pitchFamily="34" charset="-122"/>
                <a:cs typeface="Pretendard" pitchFamily="34" charset="-120"/>
              </a:rPr>
              <a:t>팀·개인별 근거와 함께 → 성적 부여 근거 확보</a:t>
            </a:r>
            <a:endParaRPr lang="en-US" sz="1350" dirty="0"/>
          </a:p>
        </p:txBody>
      </p:sp>
      <p:sp>
        <p:nvSpPr>
          <p:cNvPr id="10" name="Shape 7"/>
          <p:cNvSpPr/>
          <p:nvPr/>
        </p:nvSpPr>
        <p:spPr>
          <a:xfrm>
            <a:off x="3566160" y="3941064"/>
            <a:ext cx="8001000" cy="877824"/>
          </a:xfrm>
          <a:prstGeom prst="roundRect">
            <a:avLst>
              <a:gd name="adj" fmla="val 10417"/>
            </a:avLst>
          </a:prstGeom>
          <a:solidFill>
            <a:srgbClr val="413C9A"/>
          </a:solidFill>
          <a:ln/>
        </p:spPr>
      </p:sp>
      <p:sp>
        <p:nvSpPr>
          <p:cNvPr id="11" name="Shape 8"/>
          <p:cNvSpPr/>
          <p:nvPr/>
        </p:nvSpPr>
        <p:spPr>
          <a:xfrm>
            <a:off x="3822192" y="4123944"/>
            <a:ext cx="512064" cy="512064"/>
          </a:xfrm>
          <a:prstGeom prst="ellipse">
            <a:avLst/>
          </a:prstGeom>
          <a:solidFill>
            <a:srgbClr val="5B54C9"/>
          </a:solidFill>
          <a:ln/>
        </p:spPr>
      </p:sp>
      <p:pic>
        <p:nvPicPr>
          <p:cNvPr id="12" name="Image 1" descr="preencoded.png">    </p:cNvPr>
          <p:cNvPicPr>
            <a:picLocks noChangeAspect="1"/>
          </p:cNvPicPr>
          <p:nvPr/>
        </p:nvPicPr>
        <p:blipFill>
          <a:blip r:embed="rId3"/>
          <a:stretch>
            <a:fillRect/>
          </a:stretch>
        </p:blipFill>
        <p:spPr>
          <a:xfrm>
            <a:off x="3950208" y="4251960"/>
            <a:ext cx="256032" cy="256032"/>
          </a:xfrm>
          <a:prstGeom prst="rect">
            <a:avLst/>
          </a:prstGeom>
        </p:spPr>
      </p:pic>
      <p:sp>
        <p:nvSpPr>
          <p:cNvPr id="13" name="Text 9"/>
          <p:cNvSpPr/>
          <p:nvPr/>
        </p:nvSpPr>
        <p:spPr>
          <a:xfrm>
            <a:off x="4553712" y="3941064"/>
            <a:ext cx="2468880" cy="877824"/>
          </a:xfrm>
          <a:prstGeom prst="rect">
            <a:avLst/>
          </a:prstGeom>
          <a:noFill/>
          <a:ln/>
        </p:spPr>
        <p:txBody>
          <a:bodyPr wrap="square" lIns="0" tIns="0" rIns="0" bIns="0" rtlCol="0" anchor="ctr"/>
          <a:lstStyle/>
          <a:p>
            <a:pPr indent="0" marL="0">
              <a:buNone/>
            </a:pPr>
            <a:r>
              <a:rPr lang="en-US" sz="1450" b="1" dirty="0">
                <a:solidFill>
                  <a:srgbClr val="C7D2FE"/>
                </a:solidFill>
                <a:latin typeface="Pretendard" pitchFamily="34" charset="0"/>
                <a:ea typeface="Pretendard" pitchFamily="34" charset="-122"/>
                <a:cs typeface="Pretendard" pitchFamily="34" charset="-120"/>
              </a:rPr>
              <a:t>문제를 조기에</a:t>
            </a:r>
            <a:endParaRPr lang="en-US" sz="1450" dirty="0"/>
          </a:p>
        </p:txBody>
      </p:sp>
      <p:sp>
        <p:nvSpPr>
          <p:cNvPr id="14" name="Text 10"/>
          <p:cNvSpPr/>
          <p:nvPr/>
        </p:nvSpPr>
        <p:spPr>
          <a:xfrm>
            <a:off x="6766560" y="3941064"/>
            <a:ext cx="4572000" cy="877824"/>
          </a:xfrm>
          <a:prstGeom prst="rect">
            <a:avLst/>
          </a:prstGeom>
          <a:noFill/>
          <a:ln/>
        </p:spPr>
        <p:txBody>
          <a:bodyPr wrap="square" lIns="0" tIns="0" rIns="0" bIns="0" rtlCol="0" anchor="ctr"/>
          <a:lstStyle/>
          <a:p>
            <a:pPr indent="0" marL="0">
              <a:buNone/>
            </a:pPr>
            <a:r>
              <a:rPr lang="en-US" sz="1350" dirty="0">
                <a:solidFill>
                  <a:srgbClr val="FFFFFF"/>
                </a:solidFill>
                <a:latin typeface="Pretendard" pitchFamily="34" charset="0"/>
                <a:ea typeface="Pretendard" pitchFamily="34" charset="-122"/>
                <a:cs typeface="Pretendard" pitchFamily="34" charset="-120"/>
              </a:rPr>
              <a:t>무임승차·기록평가 불일치를 자동 감지</a:t>
            </a:r>
            <a:endParaRPr lang="en-US" sz="1350" dirty="0"/>
          </a:p>
        </p:txBody>
      </p:sp>
      <p:sp>
        <p:nvSpPr>
          <p:cNvPr id="15" name="Shape 11"/>
          <p:cNvSpPr/>
          <p:nvPr/>
        </p:nvSpPr>
        <p:spPr>
          <a:xfrm>
            <a:off x="3566160" y="5001768"/>
            <a:ext cx="8001000" cy="877824"/>
          </a:xfrm>
          <a:prstGeom prst="roundRect">
            <a:avLst>
              <a:gd name="adj" fmla="val 10417"/>
            </a:avLst>
          </a:prstGeom>
          <a:solidFill>
            <a:srgbClr val="413C9A"/>
          </a:solidFill>
          <a:ln/>
        </p:spPr>
      </p:sp>
      <p:sp>
        <p:nvSpPr>
          <p:cNvPr id="16" name="Shape 12"/>
          <p:cNvSpPr/>
          <p:nvPr/>
        </p:nvSpPr>
        <p:spPr>
          <a:xfrm>
            <a:off x="3822192" y="5184648"/>
            <a:ext cx="512064" cy="512064"/>
          </a:xfrm>
          <a:prstGeom prst="ellipse">
            <a:avLst/>
          </a:prstGeom>
          <a:solidFill>
            <a:srgbClr val="5B54C9"/>
          </a:solidFill>
          <a:ln/>
        </p:spPr>
      </p:sp>
      <p:pic>
        <p:nvPicPr>
          <p:cNvPr id="17" name="Image 2" descr="preencoded.png">    </p:cNvPr>
          <p:cNvPicPr>
            <a:picLocks noChangeAspect="1"/>
          </p:cNvPicPr>
          <p:nvPr/>
        </p:nvPicPr>
        <p:blipFill>
          <a:blip r:embed="rId4"/>
          <a:stretch>
            <a:fillRect/>
          </a:stretch>
        </p:blipFill>
        <p:spPr>
          <a:xfrm>
            <a:off x="3950208" y="5312664"/>
            <a:ext cx="256032" cy="256032"/>
          </a:xfrm>
          <a:prstGeom prst="rect">
            <a:avLst/>
          </a:prstGeom>
        </p:spPr>
      </p:pic>
      <p:sp>
        <p:nvSpPr>
          <p:cNvPr id="18" name="Text 13"/>
          <p:cNvSpPr/>
          <p:nvPr/>
        </p:nvSpPr>
        <p:spPr>
          <a:xfrm>
            <a:off x="4553712" y="5001768"/>
            <a:ext cx="2468880" cy="877824"/>
          </a:xfrm>
          <a:prstGeom prst="rect">
            <a:avLst/>
          </a:prstGeom>
          <a:noFill/>
          <a:ln/>
        </p:spPr>
        <p:txBody>
          <a:bodyPr wrap="square" lIns="0" tIns="0" rIns="0" bIns="0" rtlCol="0" anchor="ctr"/>
          <a:lstStyle/>
          <a:p>
            <a:pPr indent="0" marL="0">
              <a:buNone/>
            </a:pPr>
            <a:r>
              <a:rPr lang="en-US" sz="1450" b="1" dirty="0">
                <a:solidFill>
                  <a:srgbClr val="C7D2FE"/>
                </a:solidFill>
                <a:latin typeface="Pretendard" pitchFamily="34" charset="0"/>
                <a:ea typeface="Pretendard" pitchFamily="34" charset="-122"/>
                <a:cs typeface="Pretendard" pitchFamily="34" charset="-120"/>
              </a:rPr>
              <a:t>일정까지 통합</a:t>
            </a:r>
            <a:endParaRPr lang="en-US" sz="1450" dirty="0"/>
          </a:p>
        </p:txBody>
      </p:sp>
      <p:sp>
        <p:nvSpPr>
          <p:cNvPr id="19" name="Text 14"/>
          <p:cNvSpPr/>
          <p:nvPr/>
        </p:nvSpPr>
        <p:spPr>
          <a:xfrm>
            <a:off x="6766560" y="5001768"/>
            <a:ext cx="4572000" cy="877824"/>
          </a:xfrm>
          <a:prstGeom prst="rect">
            <a:avLst/>
          </a:prstGeom>
          <a:noFill/>
          <a:ln/>
        </p:spPr>
        <p:txBody>
          <a:bodyPr wrap="square" lIns="0" tIns="0" rIns="0" bIns="0" rtlCol="0" anchor="ctr"/>
          <a:lstStyle/>
          <a:p>
            <a:pPr indent="0" marL="0">
              <a:buNone/>
            </a:pPr>
            <a:r>
              <a:rPr lang="en-US" sz="1350" dirty="0">
                <a:solidFill>
                  <a:srgbClr val="FFFFFF"/>
                </a:solidFill>
                <a:latin typeface="Pretendard" pitchFamily="34" charset="0"/>
                <a:ea typeface="Pretendard" pitchFamily="34" charset="-122"/>
                <a:cs typeface="Pretendard" pitchFamily="34" charset="-120"/>
              </a:rPr>
              <a:t>졸업작품 · 중간 · 기말 프로젝트 관리</a:t>
            </a:r>
            <a:endParaRPr lang="en-US" sz="1350" dirty="0"/>
          </a:p>
        </p:txBody>
      </p:sp>
      <p:sp>
        <p:nvSpPr>
          <p:cNvPr id="20" name="Text 15"/>
          <p:cNvSpPr/>
          <p:nvPr/>
        </p:nvSpPr>
        <p:spPr>
          <a:xfrm>
            <a:off x="3566160" y="6108192"/>
            <a:ext cx="8001000" cy="457200"/>
          </a:xfrm>
          <a:prstGeom prst="rect">
            <a:avLst/>
          </a:prstGeom>
          <a:noFill/>
          <a:ln/>
        </p:spPr>
        <p:txBody>
          <a:bodyPr wrap="square" lIns="0" tIns="0" rIns="0" bIns="0" rtlCol="0" anchor="ctr"/>
          <a:lstStyle/>
          <a:p>
            <a:pPr indent="0" marL="0">
              <a:buNone/>
            </a:pPr>
            <a:r>
              <a:rPr lang="en-US" sz="1800" b="1" dirty="0">
                <a:solidFill>
                  <a:srgbClr val="FFFFFF"/>
                </a:solidFill>
                <a:latin typeface="Pretendard" pitchFamily="34" charset="0"/>
                <a:ea typeface="Pretendard" pitchFamily="34" charset="-122"/>
                <a:cs typeface="Pretendard" pitchFamily="34" charset="-120"/>
              </a:rPr>
              <a:t>감시가 아닌 증명 — N분의1</a:t>
            </a:r>
            <a:endParaRPr lang="en-US" sz="1800" dirty="0"/>
          </a:p>
        </p:txBody>
      </p:sp>
      <p:pic>
        <p:nvPicPr>
          <p:cNvPr id="21" name="Image 3" descr="C:/Users/HP15~1/AppData/Local/Temp/claude/C--Users-HP-15-Desktop-Hackathon/e11a162a-fd90-4cff-922b-c82073c29db3/scratchpad/deck/assets/dev_prof.png">    </p:cNvPr>
          <p:cNvPicPr>
            <a:picLocks noChangeAspect="1"/>
          </p:cNvPicPr>
          <p:nvPr/>
        </p:nvPicPr>
        <p:blipFill>
          <a:blip r:embed="rId5"/>
          <a:stretch>
            <a:fillRect/>
          </a:stretch>
        </p:blipFill>
        <p:spPr>
          <a:xfrm>
            <a:off x="566928" y="502920"/>
            <a:ext cx="2715672" cy="5806440"/>
          </a:xfrm>
          <a:prstGeom prst="rect">
            <a:avLst/>
          </a:prstGeom>
        </p:spPr>
      </p:pic>
      <p:sp>
        <p:nvSpPr>
          <p:cNvPr id="22" name="Text 16"/>
          <p:cNvSpPr/>
          <p:nvPr/>
        </p:nvSpPr>
        <p:spPr>
          <a:xfrm>
            <a:off x="548640" y="6528816"/>
            <a:ext cx="7315200" cy="256032"/>
          </a:xfrm>
          <a:prstGeom prst="rect">
            <a:avLst/>
          </a:prstGeom>
          <a:noFill/>
          <a:ln/>
        </p:spPr>
        <p:txBody>
          <a:bodyPr wrap="square" lIns="0" tIns="0" rIns="0" bIns="0" rtlCol="0" anchor="ctr"/>
          <a:lstStyle/>
          <a:p>
            <a:pPr indent="0" marL="0">
              <a:buNone/>
            </a:pPr>
            <a:r>
              <a:rPr lang="en-US" sz="900" dirty="0">
                <a:solidFill>
                  <a:srgbClr val="A5B4FC"/>
                </a:solidFill>
                <a:latin typeface="Pretendard" pitchFamily="34" charset="0"/>
                <a:ea typeface="Pretendard" pitchFamily="34" charset="-122"/>
                <a:cs typeface="Pretendard" pitchFamily="34" charset="-120"/>
              </a:rPr>
              <a:t>N분의1  ·  팀 프로젝트 기여도 증명·관리 플랫폼</a:t>
            </a:r>
            <a:endParaRPr lang="en-US" sz="900" dirty="0"/>
          </a:p>
        </p:txBody>
      </p:sp>
      <p:sp>
        <p:nvSpPr>
          <p:cNvPr id="23" name="Text 17"/>
          <p:cNvSpPr/>
          <p:nvPr/>
        </p:nvSpPr>
        <p:spPr>
          <a:xfrm>
            <a:off x="9966960" y="6528816"/>
            <a:ext cx="1673352" cy="256032"/>
          </a:xfrm>
          <a:prstGeom prst="rect">
            <a:avLst/>
          </a:prstGeom>
          <a:noFill/>
          <a:ln/>
        </p:spPr>
        <p:txBody>
          <a:bodyPr wrap="square" lIns="0" tIns="0" rIns="0" bIns="0" rtlCol="0" anchor="ctr"/>
          <a:lstStyle/>
          <a:p>
            <a:pPr algn="r" indent="0" marL="0">
              <a:buNone/>
            </a:pPr>
            <a:r>
              <a:rPr lang="en-US" sz="900" dirty="0">
                <a:solidFill>
                  <a:srgbClr val="A5B4FC"/>
                </a:solidFill>
                <a:latin typeface="Pretendard" pitchFamily="34" charset="0"/>
                <a:ea typeface="Pretendard" pitchFamily="34" charset="-122"/>
                <a:cs typeface="Pretendard" pitchFamily="34" charset="-120"/>
              </a:rPr>
              <a:t>05  /  05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N분의1 — 팀 프로젝트 기여도 증명·관리 플랫폼</dc:title>
  <dc:subject>PptxGenJS Presentation</dc:subject>
  <dc:creator>N분의1</dc:creator>
  <cp:lastModifiedBy>N분의1</cp:lastModifiedBy>
  <cp:revision>1</cp:revision>
  <dcterms:created xsi:type="dcterms:W3CDTF">2026-07-05T10:09:15Z</dcterms:created>
  <dcterms:modified xsi:type="dcterms:W3CDTF">2026-07-05T10:09:15Z</dcterms:modified>
</cp:coreProperties>
</file>